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88950"/>
  <p:notesSz cx="6858000" cy="12188950"/>
  <p:embeddedFontLst>
    <p:embeddedFont>
      <p:font typeface="Inter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5kW2MGXyGoqrurZyMzKoFTPaa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ter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Inter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5" name="Google Shape;85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4" name="Google Shape;89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6B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560320"/>
            <a:ext cx="112745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BCC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FFDBCC"/>
                </a:solidFill>
                <a:latin typeface="Inter"/>
                <a:ea typeface="Inter"/>
                <a:cs typeface="Inter"/>
                <a:sym typeface="Inter"/>
              </a:rPr>
              <a:t>Desenvolvimento Guiado por IA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BCC"/>
              </a:buClr>
              <a:buSzPts val="2400"/>
              <a:buFont typeface="Inter"/>
              <a:buNone/>
            </a:pPr>
            <a:r>
              <a:rPr b="0" i="0" lang="en-US" sz="2400" u="none" cap="none" strike="noStrike">
                <a:solidFill>
                  <a:srgbClr val="FFDBCC"/>
                </a:solidFill>
                <a:latin typeface="Inter"/>
                <a:ea typeface="Inter"/>
                <a:cs typeface="Inter"/>
                <a:sym typeface="Inter"/>
              </a:rPr>
              <a:t>(AI-First Engineering)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3840480"/>
            <a:ext cx="11274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Maio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4572000"/>
            <a:ext cx="112745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BCC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FFDBCC"/>
                </a:solidFill>
                <a:latin typeface="Inter"/>
                <a:ea typeface="Inter"/>
                <a:cs typeface="Inter"/>
                <a:sym typeface="Inter"/>
              </a:rPr>
              <a:t>Stack: Angular 19 • Node.js • PostgreSQL • Docker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BCC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FFDBCC"/>
                </a:solidFill>
                <a:latin typeface="Inter"/>
                <a:ea typeface="Inter"/>
                <a:cs typeface="Inter"/>
                <a:sym typeface="Inter"/>
              </a:rPr>
              <a:t>Ferramentas: OpenCode • Superpowers • Stitch (Google)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Como a IA </a:t>
            </a:r>
            <a:r>
              <a:rPr b="1" lang="en-US" sz="2800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oi </a:t>
            </a:r>
            <a:r>
              <a:rPr b="1" lang="en-US" sz="2800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onfigurada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1188720"/>
            <a:ext cx="11274552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57200" y="1188720"/>
            <a:ext cx="109728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731520" y="12344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OpenCode (CLI)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31520" y="155448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1. Instalar via npm: npm install -g @opencode/cli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0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. Iniciar sessão no terminal: opencode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0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. OpenCode gerencia: npm, git, Docker, arquivos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2514600"/>
            <a:ext cx="11274600" cy="118860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57200" y="2514600"/>
            <a:ext cx="109728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31520" y="25603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Superpowers (Skills)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31520" y="288036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1. Plugin do OpenCode, auto-detectado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2. Skills ativadas por contexto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3840480"/>
            <a:ext cx="11274600" cy="118860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57200" y="3840480"/>
            <a:ext cx="109728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31520" y="38862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MCP (Model Context Protocol)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31520" y="420624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1. Protocolo Anthropic para conectar IA a APIs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2. Configurado no opencode.json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3. Permite IA ler designs remotamente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5166360"/>
            <a:ext cx="11274552" cy="118872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57200" y="5166360"/>
            <a:ext cx="109728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31520" y="52120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Stitch (Google)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31520" y="553212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0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. 18 telas geradas por prompts textuais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0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. IA acessa via MCP: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   • download de HTML/CSS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   • extração de design tokens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   • comparação visual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Resumo Executivo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914400"/>
            <a:ext cx="137160" cy="10972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Aplicação web completa de programa de fidelidade, desenvolvida como experimento de desenvolvimento guiado por IA (AI-First Engineering) com o modelo Big Pickle. Objetivo: validar se ferramentas de IA generativa — orquestradas com supervisão humana — aceleram o ciclo full-stack sem sacrificar qualidade ou boas práticas.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57200" y="2377440"/>
            <a:ext cx="16916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57200" y="2468880"/>
            <a:ext cx="1691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57200" y="32004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Dias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331720" y="2377440"/>
            <a:ext cx="16916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2331720" y="2468880"/>
            <a:ext cx="1691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331720" y="32004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Endpoints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206240" y="2377440"/>
            <a:ext cx="16916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206240" y="2468880"/>
            <a:ext cx="1691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206240" y="32004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Telas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080760" y="2377440"/>
            <a:ext cx="16916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080760" y="2468880"/>
            <a:ext cx="1691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192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080760" y="32004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Testes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955280" y="2377440"/>
            <a:ext cx="16916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7955280" y="2468880"/>
            <a:ext cx="1691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3200"/>
              <a:buFont typeface="Inter"/>
              <a:buNone/>
            </a:pPr>
            <a:r>
              <a:rPr b="1" lang="en-US" sz="3200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80+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955280" y="32004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Commits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829800" y="2377440"/>
            <a:ext cx="16916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9829800" y="2468880"/>
            <a:ext cx="1691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150+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829800" y="32004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Arquivos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Resultado: Aplicação funcional com 14 endpoints REST, 12 telas responsivas, 192 testes automatizados. Desenvolvida em ~8 dias com ciclos iterativos prompt → planejamento → implementação → revisão.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Objetivo da POC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Problema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7200" y="155448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Equipes gastam tempo significativo </a:t>
            </a:r>
            <a:r>
              <a:rPr lang="en-US" sz="1200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com código</a:t>
            </a:r>
            <a:r>
              <a:rPr b="0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 repetitivo (CRUD, migrations), sincronização design → código, configuração de testes e documentação técnica.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Hipótese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400800" y="1554480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Com ferramentas de IA modernas (OpenCode + Superpowers + MCP/Stitch) e Spec-Driven Development, é possível acelerar a entrega full-stack em 3x-5x sem comprometer qualidade.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" y="2560320"/>
            <a:ext cx="11274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O que a POC Quis Validar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40080" y="3108960"/>
            <a:ext cx="73152" cy="320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868680" y="31089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(1) Geração de boilerplate — 80%+ de redução de tempo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40080" y="3611880"/>
            <a:ext cx="73152" cy="320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868680" y="36118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(2) Fidelidade visual Stitch → Angular — ~90% de precisão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40080" y="4114800"/>
            <a:ext cx="73152" cy="320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868680" y="41148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(3) Geração automatizada de testes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40080" y="4617720"/>
            <a:ext cx="73152" cy="320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868680" y="461772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(4) Qualidade do código gerado — revisão humana &lt; 15% de problemas críticos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40080" y="5120640"/>
            <a:ext cx="73152" cy="320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868680" y="51206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(5) Curva de aprendizado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Escopo da POC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Inclui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40080" y="1691640"/>
            <a:ext cx="73152" cy="274320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868680" y="16916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Cadastro e autenticação (JWT + bcrypt)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40080" y="2103120"/>
            <a:ext cx="73152" cy="274320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868680" y="210312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CRUD de endereços de entrega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40080" y="2514600"/>
            <a:ext cx="73152" cy="274320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868680" y="251460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Consulta de saldo e extrato de pontos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40080" y="2926080"/>
            <a:ext cx="73152" cy="274320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868680" y="292608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Catálogo de produtos com busca, filtros e paginação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40080" y="3337560"/>
            <a:ext cx="73152" cy="274320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868680" y="333756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Resgate de produtos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40080" y="3749040"/>
            <a:ext cx="73152" cy="274320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868680" y="37490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Acompanhamento de pedidos com status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40080" y="4160520"/>
            <a:ext cx="73152" cy="274320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868680" y="416052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Design system completo via Stitch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40080" y="4572000"/>
            <a:ext cx="73152" cy="274320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868680" y="457200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Testes automatizados em 3 camadas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1A1A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BA1A1A"/>
                </a:solidFill>
                <a:latin typeface="Inter"/>
                <a:ea typeface="Inter"/>
                <a:cs typeface="Inter"/>
                <a:sym typeface="Inter"/>
              </a:rPr>
              <a:t>Exclui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583680" y="1691640"/>
            <a:ext cx="73152" cy="274320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812280" y="16916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Integração com gateways de pagamento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583680" y="2103120"/>
            <a:ext cx="73152" cy="274320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812280" y="210312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Painel administrativo / backoffice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583680" y="2514600"/>
            <a:ext cx="73152" cy="274320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6812280" y="251460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Upload de imagens de produtos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583680" y="2926080"/>
            <a:ext cx="73152" cy="274320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812280" y="292608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Recuperação de senha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Stack Tecnológica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57200" y="1188724"/>
            <a:ext cx="2651700" cy="354990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94360" y="19202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Angular 19 (Standalone)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94360" y="24231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TypeScript 5.6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94360" y="29260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Signals (Estado Reativo)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94360" y="39319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94360" y="443484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291850" y="1188724"/>
            <a:ext cx="2651700" cy="354990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3291840" y="1188720"/>
            <a:ext cx="2651760" cy="548640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3291840" y="11887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429000" y="19202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Node.js 18+ / Express 4.18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429000" y="24231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PostgreSQL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429000" y="29260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JWT + bcrypt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429000" y="34290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Zod 3.22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429000" y="39319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126475" y="1188724"/>
            <a:ext cx="2651700" cy="354990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6126480" y="1188720"/>
            <a:ext cx="265176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6126480" y="11887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Testes &amp; E2E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263640" y="19202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Jest 30 + Supertest 7.2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263640" y="24231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Playwright 1.48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263640" y="2926080"/>
            <a:ext cx="2377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263615" y="2834650"/>
            <a:ext cx="2377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192 testes no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263640" y="39319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961125" y="1188724"/>
            <a:ext cx="2651700" cy="354990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8961120" y="1188720"/>
            <a:ext cx="265176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8961120" y="118872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Ferramentas 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9098280" y="19202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OpenCode (CLI)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9098280" y="24231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Superpowers (Skills)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9098280" y="29260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MCP / Stitch (Google)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9098280" y="34290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Big Pickle (Modelo)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9098280" y="39319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Spec-Driven Dev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Ferramentas de IA Utilizadas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57200" y="1188720"/>
            <a:ext cx="11274552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457200" y="1188720"/>
            <a:ext cx="109728" cy="1143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31520" y="1234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OpenCode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731520" y="16002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CLI de Desenvolvimento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657600" y="128016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Interface principal durante todo o desenvolvimento. Execução de comandos npm, git, Docker. Leitura/edição de arquivos. Geração de código via prompts. Coordenação entre backend, frontend e testes.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57200" y="2514600"/>
            <a:ext cx="11274552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57200" y="2514600"/>
            <a:ext cx="109728" cy="1143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731520" y="25603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Superpowers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731520" y="2926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Framework de Skills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657600" y="260604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Workflows estruturados que guiam o agente: brainstorming, writing-plans, subagent-driven-dev, test-driven-dev, code review, verification-before-completion.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57200" y="3840480"/>
            <a:ext cx="11274552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457200" y="3840480"/>
            <a:ext cx="109728" cy="1143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731520" y="38862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MCP (Stitch)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731520" y="42519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Conexão Modelo-Ferramenta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657600" y="393192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Protocolo Anthropic que conecta a IA ao Stitch via API. Leitura de screens, extração de design tokens, download de HTML/CSS, comparação visual.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57200" y="5166360"/>
            <a:ext cx="11274552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457200" y="5166360"/>
            <a:ext cx="109728" cy="1143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731520" y="52120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Stitch (Google)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31520" y="55778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Design-to-Code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3657600" y="52578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Geração de 18 telas (9 desktop + 9 mobile) a partir de prompts textuais. Extração de 50+ design tokens para CSS custom properties.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Relação entre Ferramentas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261104" y="1188720"/>
            <a:ext cx="3657600" cy="731520"/>
          </a:xfrm>
          <a:prstGeom prst="roundRect">
            <a:avLst>
              <a:gd fmla="val 10000" name="adj"/>
            </a:avLst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4261104" y="118872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DESENVOLVEDOR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(prompts, revisão, decisões)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907024" y="19202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718304" y="2286000"/>
            <a:ext cx="2743200" cy="640080"/>
          </a:xfrm>
          <a:prstGeom prst="roundRect">
            <a:avLst>
              <a:gd fmla="val 11429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4718304" y="228600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OpenCode (CLI + AI Agent)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828800" y="2926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57200" y="3291840"/>
            <a:ext cx="32004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54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457200" y="33375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Superpowers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40080" y="3749040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brainstorming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writing-plans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TDD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code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verification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632704" y="2926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261104" y="3291840"/>
            <a:ext cx="32004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4261104" y="33375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MCP (Stitch)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443984" y="3749040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screens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design tokens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HTML/CSS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632704" y="47548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261104" y="5120640"/>
            <a:ext cx="3200400" cy="640080"/>
          </a:xfrm>
          <a:prstGeom prst="roundRect">
            <a:avLst>
              <a:gd fmla="val 8571" name="adj"/>
            </a:avLst>
          </a:prstGeom>
          <a:solidFill>
            <a:srgbClr val="FFF8F6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4261104" y="512064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Stitch (Google)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UI Design + HTML/CSS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9445752" y="2926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8074152" y="3291840"/>
            <a:ext cx="32004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5400">
            <a:solidFill>
              <a:srgbClr val="2D8A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8074152" y="33375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Código/Git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8257032" y="3749040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backend/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frontend/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e2e/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Linha do Tempo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57200" y="1188720"/>
            <a:ext cx="1097280" cy="548640"/>
          </a:xfrm>
          <a:prstGeom prst="roundRect">
            <a:avLst>
              <a:gd fmla="val 10000" name="adj"/>
            </a:avLst>
          </a:prstGeom>
          <a:solidFill>
            <a:srgbClr val="F1F3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457200" y="118872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8E9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68E96"/>
                </a:solidFill>
                <a:latin typeface="Inter"/>
                <a:ea typeface="Inter"/>
                <a:cs typeface="Inter"/>
                <a:sym typeface="Inter"/>
              </a:rPr>
              <a:t>Dia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691640" y="1188720"/>
            <a:ext cx="777240" cy="548640"/>
          </a:xfrm>
          <a:prstGeom prst="roundRect">
            <a:avLst>
              <a:gd fmla="val 6667" name="adj"/>
            </a:avLst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1691640" y="1188720"/>
            <a:ext cx="777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Fase 0-1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2606040" y="11887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PRD + Planejamento: Criação do PRD, AGENTS.md, brainstorming, plano de 20+ tasks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9"/>
          <p:cNvCxnSpPr/>
          <p:nvPr/>
        </p:nvCxnSpPr>
        <p:spPr>
          <a:xfrm>
            <a:off x="2075688" y="1737360"/>
            <a:ext cx="0" cy="182880"/>
          </a:xfrm>
          <a:prstGeom prst="straightConnector1">
            <a:avLst/>
          </a:prstGeom>
          <a:noFill/>
          <a:ln cap="flat" cmpd="sng" w="12700">
            <a:solidFill>
              <a:srgbClr val="DEE2E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48" name="Google Shape;248;p9"/>
          <p:cNvSpPr/>
          <p:nvPr/>
        </p:nvSpPr>
        <p:spPr>
          <a:xfrm>
            <a:off x="457200" y="1920240"/>
            <a:ext cx="1097280" cy="548640"/>
          </a:xfrm>
          <a:prstGeom prst="roundRect">
            <a:avLst>
              <a:gd fmla="val 10000" name="adj"/>
            </a:avLst>
          </a:prstGeom>
          <a:solidFill>
            <a:srgbClr val="F1F3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457200" y="19202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8E9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68E96"/>
                </a:solidFill>
                <a:latin typeface="Inter"/>
                <a:ea typeface="Inter"/>
                <a:cs typeface="Inter"/>
                <a:sym typeface="Inter"/>
              </a:rPr>
              <a:t>Dias 1-2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691640" y="1920240"/>
            <a:ext cx="777240" cy="548640"/>
          </a:xfrm>
          <a:prstGeom prst="roundRect">
            <a:avLst>
              <a:gd fmla="val 6667" name="adj"/>
            </a:avLst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1691640" y="1920240"/>
            <a:ext cx="777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Fase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2606040" y="19202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Backend: 14 endpoints, 5 migrations, seed data, resgate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9"/>
          <p:cNvCxnSpPr/>
          <p:nvPr/>
        </p:nvCxnSpPr>
        <p:spPr>
          <a:xfrm>
            <a:off x="2075688" y="2468880"/>
            <a:ext cx="0" cy="182880"/>
          </a:xfrm>
          <a:prstGeom prst="straightConnector1">
            <a:avLst/>
          </a:prstGeom>
          <a:noFill/>
          <a:ln cap="flat" cmpd="sng" w="12700">
            <a:solidFill>
              <a:srgbClr val="DEE2E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4" name="Google Shape;254;p9"/>
          <p:cNvSpPr/>
          <p:nvPr/>
        </p:nvSpPr>
        <p:spPr>
          <a:xfrm>
            <a:off x="457200" y="2651760"/>
            <a:ext cx="1097280" cy="548640"/>
          </a:xfrm>
          <a:prstGeom prst="roundRect">
            <a:avLst>
              <a:gd fmla="val 10000" name="adj"/>
            </a:avLst>
          </a:prstGeom>
          <a:solidFill>
            <a:srgbClr val="F1F3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457200" y="265176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8E9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68E96"/>
                </a:solidFill>
                <a:latin typeface="Inter"/>
                <a:ea typeface="Inter"/>
                <a:cs typeface="Inter"/>
                <a:sym typeface="Inter"/>
              </a:rPr>
              <a:t>Dias 2-3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691640" y="2651760"/>
            <a:ext cx="777240" cy="548640"/>
          </a:xfrm>
          <a:prstGeom prst="roundRect">
            <a:avLst>
              <a:gd fmla="val 666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1691640" y="2651760"/>
            <a:ext cx="777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Fase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2606040" y="26517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Frontend: 12 telas, 12 shared components, Signals, lazy loading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9"/>
          <p:cNvCxnSpPr/>
          <p:nvPr/>
        </p:nvCxnSpPr>
        <p:spPr>
          <a:xfrm>
            <a:off x="2075688" y="3200400"/>
            <a:ext cx="0" cy="182880"/>
          </a:xfrm>
          <a:prstGeom prst="straightConnector1">
            <a:avLst/>
          </a:prstGeom>
          <a:noFill/>
          <a:ln cap="flat" cmpd="sng" w="12700">
            <a:solidFill>
              <a:srgbClr val="DEE2E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0" name="Google Shape;260;p9"/>
          <p:cNvSpPr/>
          <p:nvPr/>
        </p:nvSpPr>
        <p:spPr>
          <a:xfrm>
            <a:off x="457200" y="3383280"/>
            <a:ext cx="1097280" cy="548640"/>
          </a:xfrm>
          <a:prstGeom prst="roundRect">
            <a:avLst>
              <a:gd fmla="val 10000" name="adj"/>
            </a:avLst>
          </a:prstGeom>
          <a:solidFill>
            <a:srgbClr val="F1F3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457200" y="338328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8E9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68E96"/>
                </a:solidFill>
                <a:latin typeface="Inter"/>
                <a:ea typeface="Inter"/>
                <a:cs typeface="Inter"/>
                <a:sym typeface="Inter"/>
              </a:rPr>
              <a:t>Dia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1691640" y="3383280"/>
            <a:ext cx="777240" cy="548640"/>
          </a:xfrm>
          <a:prstGeom prst="roundRect">
            <a:avLst>
              <a:gd fmla="val 6667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1691640" y="3383280"/>
            <a:ext cx="777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Fase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2606040" y="33832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Refinamento: Code review, correções críticas, README completo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9"/>
          <p:cNvCxnSpPr/>
          <p:nvPr/>
        </p:nvCxnSpPr>
        <p:spPr>
          <a:xfrm>
            <a:off x="2075688" y="3931920"/>
            <a:ext cx="0" cy="182880"/>
          </a:xfrm>
          <a:prstGeom prst="straightConnector1">
            <a:avLst/>
          </a:prstGeom>
          <a:noFill/>
          <a:ln cap="flat" cmpd="sng" w="12700">
            <a:solidFill>
              <a:srgbClr val="DEE2E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6" name="Google Shape;266;p9"/>
          <p:cNvSpPr/>
          <p:nvPr/>
        </p:nvSpPr>
        <p:spPr>
          <a:xfrm>
            <a:off x="457200" y="4114800"/>
            <a:ext cx="1097280" cy="548640"/>
          </a:xfrm>
          <a:prstGeom prst="roundRect">
            <a:avLst>
              <a:gd fmla="val 10000" name="adj"/>
            </a:avLst>
          </a:prstGeom>
          <a:solidFill>
            <a:srgbClr val="F1F3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457200" y="411480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8E9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68E96"/>
                </a:solidFill>
                <a:latin typeface="Inter"/>
                <a:ea typeface="Inter"/>
                <a:cs typeface="Inter"/>
                <a:sym typeface="Inter"/>
              </a:rPr>
              <a:t>Dias 4-6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1691640" y="4114800"/>
            <a:ext cx="777240" cy="548640"/>
          </a:xfrm>
          <a:prstGeom prst="roundRect">
            <a:avLst>
              <a:gd fmla="val 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1691640" y="4114800"/>
            <a:ext cx="777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Fase 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2606040" y="41148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Stitch Design: 18 telas, 50+ tokens, refatoração visual completa, ícones SVG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9"/>
          <p:cNvCxnSpPr/>
          <p:nvPr/>
        </p:nvCxnSpPr>
        <p:spPr>
          <a:xfrm>
            <a:off x="2075688" y="4663440"/>
            <a:ext cx="0" cy="182880"/>
          </a:xfrm>
          <a:prstGeom prst="straightConnector1">
            <a:avLst/>
          </a:prstGeom>
          <a:noFill/>
          <a:ln cap="flat" cmpd="sng" w="12700">
            <a:solidFill>
              <a:srgbClr val="DEE2E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2" name="Google Shape;272;p9"/>
          <p:cNvSpPr/>
          <p:nvPr/>
        </p:nvSpPr>
        <p:spPr>
          <a:xfrm>
            <a:off x="457200" y="4846320"/>
            <a:ext cx="1097280" cy="548640"/>
          </a:xfrm>
          <a:prstGeom prst="roundRect">
            <a:avLst>
              <a:gd fmla="val 10000" name="adj"/>
            </a:avLst>
          </a:prstGeom>
          <a:solidFill>
            <a:srgbClr val="F1F3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457200" y="484632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8E9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68E96"/>
                </a:solidFill>
                <a:latin typeface="Inter"/>
                <a:ea typeface="Inter"/>
                <a:cs typeface="Inter"/>
                <a:sym typeface="Inter"/>
              </a:rPr>
              <a:t>Dia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1691640" y="4846320"/>
            <a:ext cx="777240" cy="548640"/>
          </a:xfrm>
          <a:prstGeom prst="roundRect">
            <a:avLst>
              <a:gd fmla="val 6667" name="adj"/>
            </a:avLst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1691640" y="4846320"/>
            <a:ext cx="777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Fase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2606040" y="48463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Testes: 192 testes (unit + integração + E2E + frontend)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9"/>
          <p:cNvCxnSpPr/>
          <p:nvPr/>
        </p:nvCxnSpPr>
        <p:spPr>
          <a:xfrm>
            <a:off x="2075688" y="5394960"/>
            <a:ext cx="0" cy="182880"/>
          </a:xfrm>
          <a:prstGeom prst="straightConnector1">
            <a:avLst/>
          </a:prstGeom>
          <a:noFill/>
          <a:ln cap="flat" cmpd="sng" w="12700">
            <a:solidFill>
              <a:srgbClr val="DEE2E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8" name="Google Shape;278;p9"/>
          <p:cNvSpPr/>
          <p:nvPr/>
        </p:nvSpPr>
        <p:spPr>
          <a:xfrm>
            <a:off x="457200" y="5577840"/>
            <a:ext cx="1097280" cy="548640"/>
          </a:xfrm>
          <a:prstGeom prst="roundRect">
            <a:avLst>
              <a:gd fmla="val 10000" name="adj"/>
            </a:avLst>
          </a:prstGeom>
          <a:solidFill>
            <a:srgbClr val="F1F3F5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457200" y="55778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68E9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868E96"/>
                </a:solidFill>
                <a:latin typeface="Inter"/>
                <a:ea typeface="Inter"/>
                <a:cs typeface="Inter"/>
                <a:sym typeface="Inter"/>
              </a:rPr>
              <a:t>Dia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1691640" y="5577840"/>
            <a:ext cx="777240" cy="548640"/>
          </a:xfrm>
          <a:prstGeom prst="roundRect">
            <a:avLst>
              <a:gd fmla="val 6667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1691640" y="5577840"/>
            <a:ext cx="777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Fase 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2606040" y="55778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Correções Finais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Backend: Estrutura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142875" y="1097275"/>
            <a:ext cx="52755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backend/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src/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config/       db.js, env.js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controllers/  auth, pedido, resgate, saldo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middlewares/   auth, errorHandler, validate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models/       endereco, pedido, produto, transacao, </a:t>
            </a:r>
            <a:r>
              <a:rPr b="0" i="0" lang="en-US" sz="95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usuario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routes/       7 routers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services/     resgateService (atômico)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app.js         Express app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server.js      Entry point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├── migrations/        5 arquivos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seeds/             dados de demonstração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├── tests/             unit + integration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├── .env.example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└── package.json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5486400" y="10972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14 Endpoints REST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5486400" y="1554480"/>
            <a:ext cx="731520" cy="320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5486400" y="15544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Método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6217920" y="1554480"/>
            <a:ext cx="2286000" cy="320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6217920" y="15544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8503920" y="1554480"/>
            <a:ext cx="548640" cy="320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8503920" y="15544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9052560" y="1554480"/>
            <a:ext cx="2377440" cy="320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9052560" y="15544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Descrição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486400" y="1874520"/>
            <a:ext cx="73152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5486400" y="1874520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6217920" y="1874520"/>
            <a:ext cx="228600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6217920" y="1874520"/>
            <a:ext cx="2286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/api/usuarios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8503920" y="1874520"/>
            <a:ext cx="54864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8503920" y="1874520"/>
            <a:ext cx="5486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Não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9052560" y="1874520"/>
            <a:ext cx="237744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9052560" y="1874520"/>
            <a:ext cx="23774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Cadastrar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5486400" y="2157984"/>
            <a:ext cx="73152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5486400" y="2157984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217920" y="2157984"/>
            <a:ext cx="228600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6217920" y="2157984"/>
            <a:ext cx="2286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/api/login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8503920" y="2157984"/>
            <a:ext cx="54864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8503920" y="2157984"/>
            <a:ext cx="5486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Não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9052560" y="2157984"/>
            <a:ext cx="237744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9052560" y="2157984"/>
            <a:ext cx="23774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Login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5486400" y="2441448"/>
            <a:ext cx="73152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5486400" y="2441448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6217920" y="2441448"/>
            <a:ext cx="228600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6217920" y="2441448"/>
            <a:ext cx="2286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/api/me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8503920" y="2441448"/>
            <a:ext cx="54864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8503920" y="2441448"/>
            <a:ext cx="5486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9052560" y="2441448"/>
            <a:ext cx="237744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9052560" y="2441448"/>
            <a:ext cx="23774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Dados do user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5486400" y="2724912"/>
            <a:ext cx="73152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5486400" y="2724912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6217920" y="2724912"/>
            <a:ext cx="228600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6217920" y="2724912"/>
            <a:ext cx="2286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/api/enderecos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8503920" y="2724912"/>
            <a:ext cx="54864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8503920" y="2724912"/>
            <a:ext cx="5486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9052560" y="2724912"/>
            <a:ext cx="237744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9052560" y="2724912"/>
            <a:ext cx="23774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Listar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5486400" y="3008376"/>
            <a:ext cx="73152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5486400" y="3008376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6217920" y="3008376"/>
            <a:ext cx="228600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6217920" y="3008376"/>
            <a:ext cx="2286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/api/enderecos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8503920" y="3008376"/>
            <a:ext cx="54864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8503920" y="3008376"/>
            <a:ext cx="5486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9052560" y="3008376"/>
            <a:ext cx="237744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9052560" y="3008376"/>
            <a:ext cx="23774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Criar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5486400" y="3291840"/>
            <a:ext cx="73152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5486400" y="3291840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PUT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6217920" y="3291840"/>
            <a:ext cx="228600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6217920" y="3291840"/>
            <a:ext cx="2286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/api/enderecos/:id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8503920" y="3291840"/>
            <a:ext cx="54864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8503920" y="3291840"/>
            <a:ext cx="5486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9052560" y="3291840"/>
            <a:ext cx="237744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9052560" y="3291840"/>
            <a:ext cx="23774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Editar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5486400" y="3575304"/>
            <a:ext cx="73152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5486400" y="3575304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A1A1A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BA1A1A"/>
                </a:solidFill>
                <a:latin typeface="Inter"/>
                <a:ea typeface="Inter"/>
                <a:cs typeface="Inter"/>
                <a:sym typeface="Inter"/>
              </a:rPr>
              <a:t>DELETE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6217920" y="3575304"/>
            <a:ext cx="228600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6217920" y="3575304"/>
            <a:ext cx="2286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/api/enderecos/:id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8503920" y="3575304"/>
            <a:ext cx="54864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8503920" y="3575304"/>
            <a:ext cx="5486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9052560" y="3575304"/>
            <a:ext cx="237744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9052560" y="3575304"/>
            <a:ext cx="23774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Excluir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5486400" y="3858768"/>
            <a:ext cx="73152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5486400" y="3858768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6217920" y="3858768"/>
            <a:ext cx="228600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6217920" y="3858768"/>
            <a:ext cx="2286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/api/saldo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8503920" y="3858768"/>
            <a:ext cx="54864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8503920" y="3858768"/>
            <a:ext cx="5486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9052560" y="3858768"/>
            <a:ext cx="237744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9052560" y="3858768"/>
            <a:ext cx="23774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Saldo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5486400" y="4142232"/>
            <a:ext cx="73152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5486400" y="4142232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6217920" y="4142232"/>
            <a:ext cx="228600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6217920" y="4142232"/>
            <a:ext cx="2286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/api/extrato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8503920" y="4142232"/>
            <a:ext cx="54864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8503920" y="4142232"/>
            <a:ext cx="5486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9052560" y="4142232"/>
            <a:ext cx="237744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9052560" y="4142232"/>
            <a:ext cx="23774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Extrato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5486400" y="4425696"/>
            <a:ext cx="73152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5486400" y="4425696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6217920" y="4425696"/>
            <a:ext cx="228600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6217920" y="4425696"/>
            <a:ext cx="2286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/api/produtos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8503920" y="4425696"/>
            <a:ext cx="54864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8503920" y="4425696"/>
            <a:ext cx="5486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9052560" y="4425696"/>
            <a:ext cx="237744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9052560" y="4425696"/>
            <a:ext cx="23774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Catálogo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5486400" y="4709160"/>
            <a:ext cx="73152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5486400" y="4709160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6217920" y="4709160"/>
            <a:ext cx="228600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6217920" y="4709160"/>
            <a:ext cx="2286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/api/produtos/:id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8503920" y="4709160"/>
            <a:ext cx="54864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8503920" y="4709160"/>
            <a:ext cx="5486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9052560" y="4709160"/>
            <a:ext cx="237744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9052560" y="4709160"/>
            <a:ext cx="23774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Detalhe do produto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5486400" y="4992624"/>
            <a:ext cx="73152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5486400" y="4992624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6217920" y="4992624"/>
            <a:ext cx="228600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6217920" y="4992624"/>
            <a:ext cx="2286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/api/resgates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8503920" y="4992624"/>
            <a:ext cx="54864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8503920" y="4992624"/>
            <a:ext cx="5486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9052560" y="4992624"/>
            <a:ext cx="237744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9052560" y="4992624"/>
            <a:ext cx="23774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Resgatar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5486400" y="5276088"/>
            <a:ext cx="73152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5486400" y="5276088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6217920" y="5276088"/>
            <a:ext cx="228600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6217920" y="5276088"/>
            <a:ext cx="2286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/api/pedidos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8503920" y="5276088"/>
            <a:ext cx="54864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8503920" y="5276088"/>
            <a:ext cx="5486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9052560" y="5276088"/>
            <a:ext cx="2377440" cy="28346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9052560" y="5276088"/>
            <a:ext cx="23774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Listar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5486400" y="5559552"/>
            <a:ext cx="73152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5486400" y="5559552"/>
            <a:ext cx="731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6217920" y="5559552"/>
            <a:ext cx="228600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1"/>
          <p:cNvSpPr/>
          <p:nvPr/>
        </p:nvSpPr>
        <p:spPr>
          <a:xfrm>
            <a:off x="6217920" y="5559552"/>
            <a:ext cx="228600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/api/pedidos/:id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8503920" y="5559552"/>
            <a:ext cx="54864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8503920" y="5559552"/>
            <a:ext cx="5486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9052560" y="5559552"/>
            <a:ext cx="237744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9052560" y="5559552"/>
            <a:ext cx="23774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Detalhe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Frontend: Angular 19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457200" y="1097280"/>
            <a:ext cx="11274552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457200" y="109728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731520" y="11430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Standalone Components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Zero NgModules. Cada componente autossuficiente com imports explícitos.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457200" y="2103120"/>
            <a:ext cx="11274552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457200" y="210312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731520" y="21488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Signals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731520" y="24688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Estado reativo nativo. Melhor performance (OnPush implícito). API simples e direta.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457200" y="3108960"/>
            <a:ext cx="11274552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457200" y="310896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731520" y="31546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Lazy Loading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731520" y="34747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loadComponent para carregamento sob demanda. 12 telas, 14 rotas.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457200" y="4114800"/>
            <a:ext cx="11274552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457200" y="411480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731520" y="4160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Interceptors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Auth Interceptor (Bearer token) + Error Interceptor (401→login, 400→toast).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457200" y="530352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12 telas | 12 shared components | 30+ SVG icons | 50+ CSS custom properties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Design System e Stitch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Processo de Integração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640080" y="1600200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868680" y="1600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1. PRD + Screen Design Spec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640080" y="1929384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868680" y="192938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2. Prompt → Stitch → 18 telas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640080" y="2258568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868680" y="225856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3. Extrair 50+ design tokens via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640080" y="2587752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868680" y="258775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4. Criar CSS custom properties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640080" y="2916936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868680" y="2916936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5. Atualizar shared components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640080" y="3246120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868680" y="32461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6. Criar Navbar, SaldoDisplay, etc.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640080" y="3575304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4"/>
          <p:cNvSpPr/>
          <p:nvPr/>
        </p:nvSpPr>
        <p:spPr>
          <a:xfrm>
            <a:off x="868680" y="357530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7. Baixar HTML/CSS referência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640080" y="3904488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868680" y="3904488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8. Converter para Angular templates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640080" y="4233672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4"/>
          <p:cNvSpPr/>
          <p:nvPr/>
        </p:nvSpPr>
        <p:spPr>
          <a:xfrm>
            <a:off x="868680" y="4233672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9. Aplicar em cada página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640080" y="4562856"/>
            <a:ext cx="54864" cy="228600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4"/>
          <p:cNvSpPr/>
          <p:nvPr/>
        </p:nvSpPr>
        <p:spPr>
          <a:xfrm>
            <a:off x="868680" y="4562856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10. Validar visualmente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5943600" y="1097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Validação Visual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4"/>
          <p:cNvSpPr/>
          <p:nvPr/>
        </p:nvSpPr>
        <p:spPr>
          <a:xfrm>
            <a:off x="5943600" y="1645920"/>
            <a:ext cx="5029200" cy="4572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4"/>
          <p:cNvSpPr/>
          <p:nvPr/>
        </p:nvSpPr>
        <p:spPr>
          <a:xfrm>
            <a:off x="5943600" y="1645920"/>
            <a:ext cx="4471416" cy="457200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4"/>
          <p:cNvSpPr/>
          <p:nvPr/>
        </p:nvSpPr>
        <p:spPr>
          <a:xfrm>
            <a:off x="6126480" y="16459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✅ Totalmente alinhado: 16 telas (89%)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5943600" y="2286000"/>
            <a:ext cx="5029200" cy="4572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5943600" y="2286000"/>
            <a:ext cx="55778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4"/>
          <p:cNvSpPr/>
          <p:nvPr/>
        </p:nvSpPr>
        <p:spPr>
          <a:xfrm>
            <a:off x="6126480" y="22860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⚠️ Parcialmente: 2 telas (11%)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5943600" y="2926080"/>
            <a:ext cx="5029200" cy="457200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4"/>
          <p:cNvSpPr/>
          <p:nvPr/>
        </p:nvSpPr>
        <p:spPr>
          <a:xfrm>
            <a:off x="6126480" y="29260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❌ Divergente: 0 telas (0%)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5943600" y="36576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Design Tokens (amostra)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6126480" y="411480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--color-primary: #FF6B00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--color-background: #FFF8F6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--font-family: 'Inter', sans-serif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--radius-md: 8px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--shadow-card: 0 4px 12px rgba(0,0,0,0.05)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Courier New"/>
                <a:ea typeface="Courier New"/>
                <a:cs typeface="Courier New"/>
                <a:sym typeface="Courier New"/>
              </a:rPr>
              <a:t>--space-md: 16px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Banco de Dados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457200" y="1188720"/>
            <a:ext cx="2103120" cy="128016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905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457200" y="1188720"/>
            <a:ext cx="2103120" cy="3657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457200" y="11887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usuarios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548640" y="164592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id (PK), email (UNIQUE), senha_hash, saldo_pontos, criado_em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2743200" y="1188720"/>
            <a:ext cx="2103120" cy="128016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905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2743200" y="1188720"/>
            <a:ext cx="2103120" cy="3657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2743200" y="11887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enderecos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2834640" y="164592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id (PK), usuario_id (FK), cep, logradouro, bairro, cidade, estado, padrao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5"/>
          <p:cNvSpPr/>
          <p:nvPr/>
        </p:nvSpPr>
        <p:spPr>
          <a:xfrm>
            <a:off x="5029200" y="1188720"/>
            <a:ext cx="2103120" cy="128016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905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5"/>
          <p:cNvSpPr/>
          <p:nvPr/>
        </p:nvSpPr>
        <p:spPr>
          <a:xfrm>
            <a:off x="5029200" y="1188720"/>
            <a:ext cx="2103120" cy="3657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5029200" y="11887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produtos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5120640" y="164592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id (PK), nome, descricao, pontos_necessarios, categoria, subcategoria, ativo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7315200" y="1188720"/>
            <a:ext cx="2103120" cy="128016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905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5"/>
          <p:cNvSpPr/>
          <p:nvPr/>
        </p:nvSpPr>
        <p:spPr>
          <a:xfrm>
            <a:off x="7315200" y="1188720"/>
            <a:ext cx="2103120" cy="3657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5"/>
          <p:cNvSpPr/>
          <p:nvPr/>
        </p:nvSpPr>
        <p:spPr>
          <a:xfrm>
            <a:off x="7315200" y="11887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transacoes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7406640" y="164592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id (PK), usuario_id (FK), tipo (ganho/resgate), pontos, descricao, data_criacao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9601200" y="1188720"/>
            <a:ext cx="2103120" cy="128016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905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5"/>
          <p:cNvSpPr/>
          <p:nvPr/>
        </p:nvSpPr>
        <p:spPr>
          <a:xfrm>
            <a:off x="9601200" y="1188720"/>
            <a:ext cx="2103120" cy="3657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5"/>
          <p:cNvSpPr/>
          <p:nvPr/>
        </p:nvSpPr>
        <p:spPr>
          <a:xfrm>
            <a:off x="9601200" y="11887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pedidos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5"/>
          <p:cNvSpPr/>
          <p:nvPr/>
        </p:nvSpPr>
        <p:spPr>
          <a:xfrm>
            <a:off x="9692640" y="1645920"/>
            <a:ext cx="1920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id (PK), usuario_id (FK), produto_id (FK), endereco_entrega_id (FK), pontos_gastos, status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5 Migrations (node-pg-migrate)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001_create_usuarios → 002_create_enderecos → 003_create_produtos → 004_create_transacoes → 005_create_pedidos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5"/>
          <p:cNvSpPr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Seed Data (demonstração)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5"/>
          <p:cNvSpPr/>
          <p:nvPr/>
        </p:nvSpPr>
        <p:spPr>
          <a:xfrm>
            <a:off x="457200" y="40233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5 usuários (ex: maria@email.com → 50.000 DZ)  |  8 endereços (SP, RJ, MG, PR, DF)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15 produtos em 6 categorias  |  27 transações (ganhos e resgates)  |  7 pedidos com status variados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5"/>
          <p:cNvSpPr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Índices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457200" y="52120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usuarios(email): UNIQUE INDEX — busca por login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transacoes(usuario_id, data_criacao): INDEX — extrato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pedidos(usuario_id): INDEX — listagem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Frontend: Telas e Rotas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457200" y="1097280"/>
            <a:ext cx="25603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6"/>
          <p:cNvSpPr/>
          <p:nvPr/>
        </p:nvSpPr>
        <p:spPr>
          <a:xfrm>
            <a:off x="457200" y="10972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3200400" y="1097280"/>
            <a:ext cx="25603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6"/>
          <p:cNvSpPr/>
          <p:nvPr/>
        </p:nvSpPr>
        <p:spPr>
          <a:xfrm>
            <a:off x="3200400" y="10972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6"/>
          <p:cNvSpPr/>
          <p:nvPr/>
        </p:nvSpPr>
        <p:spPr>
          <a:xfrm>
            <a:off x="5943600" y="10972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Funcionalidades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6"/>
          <p:cNvSpPr/>
          <p:nvPr/>
        </p:nvSpPr>
        <p:spPr>
          <a:xfrm>
            <a:off x="457200" y="1417320"/>
            <a:ext cx="256032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6"/>
          <p:cNvSpPr/>
          <p:nvPr/>
        </p:nvSpPr>
        <p:spPr>
          <a:xfrm>
            <a:off x="548640" y="14173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/login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6"/>
          <p:cNvSpPr/>
          <p:nvPr/>
        </p:nvSpPr>
        <p:spPr>
          <a:xfrm>
            <a:off x="3200400" y="1417320"/>
            <a:ext cx="256032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6"/>
          <p:cNvSpPr/>
          <p:nvPr/>
        </p:nvSpPr>
        <p:spPr>
          <a:xfrm>
            <a:off x="3291840" y="14173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Login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5943600" y="1417320"/>
            <a:ext cx="548640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6"/>
          <p:cNvSpPr/>
          <p:nvPr/>
        </p:nvSpPr>
        <p:spPr>
          <a:xfrm>
            <a:off x="6035040" y="14173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Autenticação, validação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457200" y="182880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6"/>
          <p:cNvSpPr/>
          <p:nvPr/>
        </p:nvSpPr>
        <p:spPr>
          <a:xfrm>
            <a:off x="548640" y="18288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/cadastro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3200400" y="182880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6"/>
          <p:cNvSpPr/>
          <p:nvPr/>
        </p:nvSpPr>
        <p:spPr>
          <a:xfrm>
            <a:off x="3291840" y="18288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Cadastro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6"/>
          <p:cNvSpPr/>
          <p:nvPr/>
        </p:nvSpPr>
        <p:spPr>
          <a:xfrm>
            <a:off x="5943600" y="1828800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6"/>
          <p:cNvSpPr/>
          <p:nvPr/>
        </p:nvSpPr>
        <p:spPr>
          <a:xfrm>
            <a:off x="6035040" y="182880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Registro, confirmação senha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6"/>
          <p:cNvSpPr/>
          <p:nvPr/>
        </p:nvSpPr>
        <p:spPr>
          <a:xfrm>
            <a:off x="457200" y="2240280"/>
            <a:ext cx="256032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6"/>
          <p:cNvSpPr/>
          <p:nvPr/>
        </p:nvSpPr>
        <p:spPr>
          <a:xfrm>
            <a:off x="548640" y="22402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6"/>
          <p:cNvSpPr/>
          <p:nvPr/>
        </p:nvSpPr>
        <p:spPr>
          <a:xfrm>
            <a:off x="3200400" y="2240280"/>
            <a:ext cx="256032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6"/>
          <p:cNvSpPr/>
          <p:nvPr/>
        </p:nvSpPr>
        <p:spPr>
          <a:xfrm>
            <a:off x="3291840" y="22402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6"/>
          <p:cNvSpPr/>
          <p:nvPr/>
        </p:nvSpPr>
        <p:spPr>
          <a:xfrm>
            <a:off x="5943600" y="2240280"/>
            <a:ext cx="548640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6"/>
          <p:cNvSpPr/>
          <p:nvPr/>
        </p:nvSpPr>
        <p:spPr>
          <a:xfrm>
            <a:off x="6035040" y="224028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Saldo, ações rápidas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6"/>
          <p:cNvSpPr/>
          <p:nvPr/>
        </p:nvSpPr>
        <p:spPr>
          <a:xfrm>
            <a:off x="457200" y="265176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6"/>
          <p:cNvSpPr/>
          <p:nvPr/>
        </p:nvSpPr>
        <p:spPr>
          <a:xfrm>
            <a:off x="548640" y="26517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/produtos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6"/>
          <p:cNvSpPr/>
          <p:nvPr/>
        </p:nvSpPr>
        <p:spPr>
          <a:xfrm>
            <a:off x="3200400" y="265176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6"/>
          <p:cNvSpPr/>
          <p:nvPr/>
        </p:nvSpPr>
        <p:spPr>
          <a:xfrm>
            <a:off x="3291840" y="26517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Produtos List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6"/>
          <p:cNvSpPr/>
          <p:nvPr/>
        </p:nvSpPr>
        <p:spPr>
          <a:xfrm>
            <a:off x="5943600" y="2651760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6"/>
          <p:cNvSpPr/>
          <p:nvPr/>
        </p:nvSpPr>
        <p:spPr>
          <a:xfrm>
            <a:off x="6035040" y="265176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Grid, busca, filtros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6"/>
          <p:cNvSpPr/>
          <p:nvPr/>
        </p:nvSpPr>
        <p:spPr>
          <a:xfrm>
            <a:off x="457200" y="3063240"/>
            <a:ext cx="256032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6"/>
          <p:cNvSpPr/>
          <p:nvPr/>
        </p:nvSpPr>
        <p:spPr>
          <a:xfrm>
            <a:off x="548640" y="30632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/produtos/:id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6"/>
          <p:cNvSpPr/>
          <p:nvPr/>
        </p:nvSpPr>
        <p:spPr>
          <a:xfrm>
            <a:off x="3200400" y="3063240"/>
            <a:ext cx="256032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6"/>
          <p:cNvSpPr/>
          <p:nvPr/>
        </p:nvSpPr>
        <p:spPr>
          <a:xfrm>
            <a:off x="3291840" y="30632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Produto Detail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6"/>
          <p:cNvSpPr/>
          <p:nvPr/>
        </p:nvSpPr>
        <p:spPr>
          <a:xfrm>
            <a:off x="5943600" y="3063240"/>
            <a:ext cx="548640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6"/>
          <p:cNvSpPr/>
          <p:nvPr/>
        </p:nvSpPr>
        <p:spPr>
          <a:xfrm>
            <a:off x="6035040" y="306324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Imagem, pontos, resgate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457200" y="347472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6"/>
          <p:cNvSpPr/>
          <p:nvPr/>
        </p:nvSpPr>
        <p:spPr>
          <a:xfrm>
            <a:off x="548640" y="34747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/checkout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3200400" y="347472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6"/>
          <p:cNvSpPr/>
          <p:nvPr/>
        </p:nvSpPr>
        <p:spPr>
          <a:xfrm>
            <a:off x="3291840" y="34747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Checkout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6"/>
          <p:cNvSpPr/>
          <p:nvPr/>
        </p:nvSpPr>
        <p:spPr>
          <a:xfrm>
            <a:off x="5943600" y="3474720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6"/>
          <p:cNvSpPr/>
          <p:nvPr/>
        </p:nvSpPr>
        <p:spPr>
          <a:xfrm>
            <a:off x="6035040" y="34747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Resumo, endereço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6"/>
          <p:cNvSpPr/>
          <p:nvPr/>
        </p:nvSpPr>
        <p:spPr>
          <a:xfrm>
            <a:off x="457200" y="3886200"/>
            <a:ext cx="256032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6"/>
          <p:cNvSpPr/>
          <p:nvPr/>
        </p:nvSpPr>
        <p:spPr>
          <a:xfrm>
            <a:off x="548640" y="38862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/enderecos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6"/>
          <p:cNvSpPr/>
          <p:nvPr/>
        </p:nvSpPr>
        <p:spPr>
          <a:xfrm>
            <a:off x="3200400" y="3886200"/>
            <a:ext cx="256032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6"/>
          <p:cNvSpPr/>
          <p:nvPr/>
        </p:nvSpPr>
        <p:spPr>
          <a:xfrm>
            <a:off x="3291840" y="38862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Endereços List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5943600" y="3886200"/>
            <a:ext cx="548640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6"/>
          <p:cNvSpPr/>
          <p:nvPr/>
        </p:nvSpPr>
        <p:spPr>
          <a:xfrm>
            <a:off x="6035040" y="388620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CRUD, badge padrão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457200" y="429768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6"/>
          <p:cNvSpPr/>
          <p:nvPr/>
        </p:nvSpPr>
        <p:spPr>
          <a:xfrm>
            <a:off x="548640" y="42976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/enderecos/novo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6"/>
          <p:cNvSpPr/>
          <p:nvPr/>
        </p:nvSpPr>
        <p:spPr>
          <a:xfrm>
            <a:off x="3200400" y="429768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6"/>
          <p:cNvSpPr/>
          <p:nvPr/>
        </p:nvSpPr>
        <p:spPr>
          <a:xfrm>
            <a:off x="3291840" y="42976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Endereço 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5943600" y="4297680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6"/>
          <p:cNvSpPr/>
          <p:nvPr/>
        </p:nvSpPr>
        <p:spPr>
          <a:xfrm>
            <a:off x="6035040" y="429768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Criar endereço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457200" y="4709160"/>
            <a:ext cx="256032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6"/>
          <p:cNvSpPr/>
          <p:nvPr/>
        </p:nvSpPr>
        <p:spPr>
          <a:xfrm>
            <a:off x="548640" y="47091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/enderecos/:id/editar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3200400" y="4709160"/>
            <a:ext cx="256032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6"/>
          <p:cNvSpPr/>
          <p:nvPr/>
        </p:nvSpPr>
        <p:spPr>
          <a:xfrm>
            <a:off x="3291840" y="47091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Endereço Edit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5943600" y="4709160"/>
            <a:ext cx="548640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6"/>
          <p:cNvSpPr/>
          <p:nvPr/>
        </p:nvSpPr>
        <p:spPr>
          <a:xfrm>
            <a:off x="6035040" y="470916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Editar endereço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6"/>
          <p:cNvSpPr/>
          <p:nvPr/>
        </p:nvSpPr>
        <p:spPr>
          <a:xfrm>
            <a:off x="457200" y="512064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6"/>
          <p:cNvSpPr/>
          <p:nvPr/>
        </p:nvSpPr>
        <p:spPr>
          <a:xfrm>
            <a:off x="548640" y="51206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/pedidos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6"/>
          <p:cNvSpPr/>
          <p:nvPr/>
        </p:nvSpPr>
        <p:spPr>
          <a:xfrm>
            <a:off x="3200400" y="512064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6"/>
          <p:cNvSpPr/>
          <p:nvPr/>
        </p:nvSpPr>
        <p:spPr>
          <a:xfrm>
            <a:off x="3291840" y="51206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Pedidos List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5943600" y="5120640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6"/>
          <p:cNvSpPr/>
          <p:nvPr/>
        </p:nvSpPr>
        <p:spPr>
          <a:xfrm>
            <a:off x="6035040" y="512064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Filtros, status chips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457200" y="5532120"/>
            <a:ext cx="256032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6"/>
          <p:cNvSpPr/>
          <p:nvPr/>
        </p:nvSpPr>
        <p:spPr>
          <a:xfrm>
            <a:off x="548640" y="55321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/pedidos/:id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3200400" y="5532120"/>
            <a:ext cx="256032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6"/>
          <p:cNvSpPr/>
          <p:nvPr/>
        </p:nvSpPr>
        <p:spPr>
          <a:xfrm>
            <a:off x="3291840" y="55321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Pedido Detail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5943600" y="5532120"/>
            <a:ext cx="5486400" cy="4114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6"/>
          <p:cNvSpPr/>
          <p:nvPr/>
        </p:nvSpPr>
        <p:spPr>
          <a:xfrm>
            <a:off x="6035040" y="55321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Dados + endereço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/>
          <p:nvPr/>
        </p:nvSpPr>
        <p:spPr>
          <a:xfrm>
            <a:off x="457200" y="594360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6"/>
          <p:cNvSpPr/>
          <p:nvPr/>
        </p:nvSpPr>
        <p:spPr>
          <a:xfrm>
            <a:off x="548640" y="59436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/extrato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3200400" y="5943600"/>
            <a:ext cx="25603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6"/>
          <p:cNvSpPr/>
          <p:nvPr/>
        </p:nvSpPr>
        <p:spPr>
          <a:xfrm>
            <a:off x="3291840" y="59436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Extrato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/>
          <p:nvPr/>
        </p:nvSpPr>
        <p:spPr>
          <a:xfrm>
            <a:off x="5943600" y="5943600"/>
            <a:ext cx="54864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6"/>
          <p:cNvSpPr/>
          <p:nvPr/>
        </p:nvSpPr>
        <p:spPr>
          <a:xfrm>
            <a:off x="6035040" y="594360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Filtro período, tabela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7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7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7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Testes Automatizados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7"/>
          <p:cNvSpPr/>
          <p:nvPr/>
        </p:nvSpPr>
        <p:spPr>
          <a:xfrm>
            <a:off x="457200" y="1097280"/>
            <a:ext cx="265176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7"/>
          <p:cNvSpPr/>
          <p:nvPr/>
        </p:nvSpPr>
        <p:spPr>
          <a:xfrm>
            <a:off x="457200" y="11887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7"/>
          <p:cNvSpPr/>
          <p:nvPr/>
        </p:nvSpPr>
        <p:spPr>
          <a:xfrm>
            <a:off x="457200" y="20116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Backend Unit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7"/>
          <p:cNvSpPr/>
          <p:nvPr/>
        </p:nvSpPr>
        <p:spPr>
          <a:xfrm>
            <a:off x="548640" y="23774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Middlewares, Services,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7"/>
          <p:cNvSpPr/>
          <p:nvPr/>
        </p:nvSpPr>
        <p:spPr>
          <a:xfrm>
            <a:off x="3291840" y="1097280"/>
            <a:ext cx="265176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25400">
            <a:solidFill>
              <a:srgbClr val="2D8A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7"/>
          <p:cNvSpPr/>
          <p:nvPr/>
        </p:nvSpPr>
        <p:spPr>
          <a:xfrm>
            <a:off x="3291840" y="11887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7"/>
          <p:cNvSpPr/>
          <p:nvPr/>
        </p:nvSpPr>
        <p:spPr>
          <a:xfrm>
            <a:off x="3291840" y="20116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Backend Integr.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7"/>
          <p:cNvSpPr/>
          <p:nvPr/>
        </p:nvSpPr>
        <p:spPr>
          <a:xfrm>
            <a:off x="3383280" y="23774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Todas as rotas HTTP (Supertest)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6126480" y="1097280"/>
            <a:ext cx="265176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7"/>
          <p:cNvSpPr/>
          <p:nvPr/>
        </p:nvSpPr>
        <p:spPr>
          <a:xfrm>
            <a:off x="6126480" y="11887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70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7"/>
          <p:cNvSpPr/>
          <p:nvPr/>
        </p:nvSpPr>
        <p:spPr>
          <a:xfrm>
            <a:off x="6126480" y="20116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7"/>
          <p:cNvSpPr/>
          <p:nvPr/>
        </p:nvSpPr>
        <p:spPr>
          <a:xfrm>
            <a:off x="6217920" y="23774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Componentes, Serviços, Guards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8961120" y="1097280"/>
            <a:ext cx="265176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254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7"/>
          <p:cNvSpPr/>
          <p:nvPr/>
        </p:nvSpPr>
        <p:spPr>
          <a:xfrm>
            <a:off x="8961120" y="11887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EC4899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8961120" y="20116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E2E (Playwright)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9052560" y="23774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Fluxos completos (cadastro→resgate)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3200400" y="3200400"/>
            <a:ext cx="5486400" cy="640080"/>
          </a:xfrm>
          <a:prstGeom prst="roundRect">
            <a:avLst>
              <a:gd fmla="val 11429" name="adj"/>
            </a:avLst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7"/>
          <p:cNvSpPr/>
          <p:nvPr/>
        </p:nvSpPr>
        <p:spPr>
          <a:xfrm>
            <a:off x="3200400" y="320040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Total: 192 testes  •  Cobertura backend: ~85%  •  Cobertura frontend: ~70%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7"/>
          <p:cNvSpPr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Principais Cenários Testados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7"/>
          <p:cNvSpPr/>
          <p:nvPr/>
        </p:nvSpPr>
        <p:spPr>
          <a:xfrm>
            <a:off x="640080" y="4572000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7"/>
          <p:cNvSpPr/>
          <p:nvPr/>
        </p:nvSpPr>
        <p:spPr>
          <a:xfrm>
            <a:off x="868680" y="4572000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Autenticação: login válido, senha errada, token expirado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7"/>
          <p:cNvSpPr/>
          <p:nvPr/>
        </p:nvSpPr>
        <p:spPr>
          <a:xfrm>
            <a:off x="640080" y="4901184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7"/>
          <p:cNvSpPr/>
          <p:nvPr/>
        </p:nvSpPr>
        <p:spPr>
          <a:xfrm>
            <a:off x="868680" y="4901184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Resgate: fluxo completo, saldo insuficiente (400)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640080" y="5230368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7"/>
          <p:cNvSpPr/>
          <p:nvPr/>
        </p:nvSpPr>
        <p:spPr>
          <a:xfrm>
            <a:off x="868680" y="5230368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Produtos: listagem, filtro categoria, detalhe, inativo (404)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7"/>
          <p:cNvSpPr/>
          <p:nvPr/>
        </p:nvSpPr>
        <p:spPr>
          <a:xfrm>
            <a:off x="640080" y="5559552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7"/>
          <p:cNvSpPr/>
          <p:nvPr/>
        </p:nvSpPr>
        <p:spPr>
          <a:xfrm>
            <a:off x="868680" y="5559552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Endereços: CRUD, apenas um padrão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7"/>
          <p:cNvSpPr/>
          <p:nvPr/>
        </p:nvSpPr>
        <p:spPr>
          <a:xfrm>
            <a:off x="640080" y="5888736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7"/>
          <p:cNvSpPr/>
          <p:nvPr/>
        </p:nvSpPr>
        <p:spPr>
          <a:xfrm>
            <a:off x="868680" y="5888736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Atomicidade: verificar saldo após resgate garante consistência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8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8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Fluxo de Desenvolvimento com 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8"/>
          <p:cNvSpPr/>
          <p:nvPr/>
        </p:nvSpPr>
        <p:spPr>
          <a:xfrm>
            <a:off x="457200" y="1188720"/>
            <a:ext cx="256032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254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8"/>
          <p:cNvSpPr/>
          <p:nvPr/>
        </p:nvSpPr>
        <p:spPr>
          <a:xfrm>
            <a:off x="457200" y="1188720"/>
            <a:ext cx="2560320" cy="548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8"/>
          <p:cNvSpPr/>
          <p:nvPr/>
        </p:nvSpPr>
        <p:spPr>
          <a:xfrm>
            <a:off x="457200" y="11887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PROMPT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8"/>
          <p:cNvSpPr/>
          <p:nvPr/>
        </p:nvSpPr>
        <p:spPr>
          <a:xfrm>
            <a:off x="548640" y="182880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Humano escreve requisito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com contexto e restrições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8"/>
          <p:cNvSpPr/>
          <p:nvPr/>
        </p:nvSpPr>
        <p:spPr>
          <a:xfrm>
            <a:off x="3017520" y="182880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000"/>
              <a:buFont typeface="Inter"/>
              <a:buNone/>
            </a:pPr>
            <a:r>
              <a:rPr b="0" i="0" lang="en-US" sz="20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8"/>
          <p:cNvSpPr/>
          <p:nvPr/>
        </p:nvSpPr>
        <p:spPr>
          <a:xfrm>
            <a:off x="3429000" y="1188720"/>
            <a:ext cx="256032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8"/>
          <p:cNvSpPr/>
          <p:nvPr/>
        </p:nvSpPr>
        <p:spPr>
          <a:xfrm>
            <a:off x="3429000" y="1188720"/>
            <a:ext cx="256032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8"/>
          <p:cNvSpPr/>
          <p:nvPr/>
        </p:nvSpPr>
        <p:spPr>
          <a:xfrm>
            <a:off x="3429000" y="11887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8"/>
          <p:cNvSpPr/>
          <p:nvPr/>
        </p:nvSpPr>
        <p:spPr>
          <a:xfrm>
            <a:off x="3520440" y="182880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IA decompõe em tasks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atômicas com código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8"/>
          <p:cNvSpPr/>
          <p:nvPr/>
        </p:nvSpPr>
        <p:spPr>
          <a:xfrm>
            <a:off x="5989320" y="182880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000"/>
              <a:buFont typeface="Inter"/>
              <a:buNone/>
            </a:pPr>
            <a:r>
              <a:rPr b="0" i="0" lang="en-US" sz="20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8"/>
          <p:cNvSpPr/>
          <p:nvPr/>
        </p:nvSpPr>
        <p:spPr>
          <a:xfrm>
            <a:off x="6400800" y="1188720"/>
            <a:ext cx="256032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25400">
            <a:solidFill>
              <a:srgbClr val="2D8A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8"/>
          <p:cNvSpPr/>
          <p:nvPr/>
        </p:nvSpPr>
        <p:spPr>
          <a:xfrm>
            <a:off x="6400800" y="1188720"/>
            <a:ext cx="2560320" cy="548640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8"/>
          <p:cNvSpPr/>
          <p:nvPr/>
        </p:nvSpPr>
        <p:spPr>
          <a:xfrm>
            <a:off x="6400800" y="11887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EXECUTE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8"/>
          <p:cNvSpPr/>
          <p:nvPr/>
        </p:nvSpPr>
        <p:spPr>
          <a:xfrm>
            <a:off x="6492240" y="182880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IA gera código,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roda testes, faz commit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8"/>
          <p:cNvSpPr/>
          <p:nvPr/>
        </p:nvSpPr>
        <p:spPr>
          <a:xfrm>
            <a:off x="8961120" y="182880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2000"/>
              <a:buFont typeface="Inter"/>
              <a:buNone/>
            </a:pPr>
            <a:r>
              <a:rPr b="0" i="0" lang="en-US" sz="20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8"/>
          <p:cNvSpPr/>
          <p:nvPr/>
        </p:nvSpPr>
        <p:spPr>
          <a:xfrm>
            <a:off x="9372600" y="1188720"/>
            <a:ext cx="256032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8"/>
          <p:cNvSpPr/>
          <p:nvPr/>
        </p:nvSpPr>
        <p:spPr>
          <a:xfrm>
            <a:off x="9372600" y="1188720"/>
            <a:ext cx="256032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8"/>
          <p:cNvSpPr/>
          <p:nvPr/>
        </p:nvSpPr>
        <p:spPr>
          <a:xfrm>
            <a:off x="9372600" y="11887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8"/>
          <p:cNvSpPr/>
          <p:nvPr/>
        </p:nvSpPr>
        <p:spPr>
          <a:xfrm>
            <a:off x="9464040" y="1828800"/>
            <a:ext cx="2377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Humano valida, aponta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issues, ajusta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8"/>
          <p:cNvSpPr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Superpowers Skills no Ciclo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8"/>
          <p:cNvSpPr/>
          <p:nvPr/>
        </p:nvSpPr>
        <p:spPr>
          <a:xfrm>
            <a:off x="640080" y="3840480"/>
            <a:ext cx="137160" cy="137160"/>
          </a:xfrm>
          <a:prstGeom prst="roundRect">
            <a:avLst>
              <a:gd fmla="val 16667" name="adj"/>
            </a:avLst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8"/>
          <p:cNvSpPr/>
          <p:nvPr/>
        </p:nvSpPr>
        <p:spPr>
          <a:xfrm>
            <a:off x="914400" y="37947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Brainstorming: explorar requisitos, riscos, trade-offs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8"/>
          <p:cNvSpPr/>
          <p:nvPr/>
        </p:nvSpPr>
        <p:spPr>
          <a:xfrm>
            <a:off x="640080" y="4297680"/>
            <a:ext cx="137160" cy="137160"/>
          </a:xfrm>
          <a:prstGeom prst="roundRect">
            <a:avLst>
              <a:gd fmla="val 16667" name="adj"/>
            </a:avLst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8"/>
          <p:cNvSpPr/>
          <p:nvPr/>
        </p:nvSpPr>
        <p:spPr>
          <a:xfrm>
            <a:off x="914400" y="42519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Writing Plans: decompor em tasks atômicas, mapear arquivos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8"/>
          <p:cNvSpPr/>
          <p:nvPr/>
        </p:nvSpPr>
        <p:spPr>
          <a:xfrm>
            <a:off x="640080" y="4754880"/>
            <a:ext cx="137160" cy="137160"/>
          </a:xfrm>
          <a:prstGeom prst="roundRect">
            <a:avLst>
              <a:gd fmla="val 16667" name="adj"/>
            </a:avLst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8"/>
          <p:cNvSpPr/>
          <p:nvPr/>
        </p:nvSpPr>
        <p:spPr>
          <a:xfrm>
            <a:off x="914400" y="47091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Subagent-Driven Dev: disparar agentes paralelos por task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8"/>
          <p:cNvSpPr/>
          <p:nvPr/>
        </p:nvSpPr>
        <p:spPr>
          <a:xfrm>
            <a:off x="640080" y="5212080"/>
            <a:ext cx="137160" cy="137160"/>
          </a:xfrm>
          <a:prstGeom prst="roundRect">
            <a:avLst>
              <a:gd fmla="val 16667" name="adj"/>
            </a:avLst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8"/>
          <p:cNvSpPr/>
          <p:nvPr/>
        </p:nvSpPr>
        <p:spPr>
          <a:xfrm>
            <a:off x="914400" y="51663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Verification Before Completion: build → testes → lint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8"/>
          <p:cNvSpPr/>
          <p:nvPr/>
        </p:nvSpPr>
        <p:spPr>
          <a:xfrm>
            <a:off x="640080" y="5669280"/>
            <a:ext cx="137160" cy="137160"/>
          </a:xfrm>
          <a:prstGeom prst="roundRect">
            <a:avLst>
              <a:gd fmla="val 16667" name="adj"/>
            </a:avLst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8"/>
          <p:cNvSpPr/>
          <p:nvPr/>
        </p:nvSpPr>
        <p:spPr>
          <a:xfrm>
            <a:off x="914400" y="56235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Code Review: checklist de requisitos, código, testes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9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9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9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O que Funcionou Muito Bem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9"/>
          <p:cNvSpPr/>
          <p:nvPr/>
        </p:nvSpPr>
        <p:spPr>
          <a:xfrm>
            <a:off x="457200" y="1097280"/>
            <a:ext cx="54864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9"/>
          <p:cNvSpPr/>
          <p:nvPr/>
        </p:nvSpPr>
        <p:spPr>
          <a:xfrm>
            <a:off x="457200" y="1097280"/>
            <a:ext cx="91440" cy="1463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9"/>
          <p:cNvSpPr/>
          <p:nvPr/>
        </p:nvSpPr>
        <p:spPr>
          <a:xfrm>
            <a:off x="731520" y="11887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Velocidade Boilerplate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9"/>
          <p:cNvSpPr/>
          <p:nvPr/>
        </p:nvSpPr>
        <p:spPr>
          <a:xfrm>
            <a:off x="731520" y="16002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CRUD de 5 tabelas em minutos. 7 routes Express geradas em segundos. 10x mais rápido que manual.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9"/>
          <p:cNvSpPr/>
          <p:nvPr/>
        </p:nvSpPr>
        <p:spPr>
          <a:xfrm>
            <a:off x="6217920" y="1097280"/>
            <a:ext cx="54864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9"/>
          <p:cNvSpPr/>
          <p:nvPr/>
        </p:nvSpPr>
        <p:spPr>
          <a:xfrm>
            <a:off x="6217920" y="1097280"/>
            <a:ext cx="91440" cy="1463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9"/>
          <p:cNvSpPr/>
          <p:nvPr/>
        </p:nvSpPr>
        <p:spPr>
          <a:xfrm>
            <a:off x="6492240" y="11887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Backend Acelerado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9"/>
          <p:cNvSpPr/>
          <p:nvPr/>
        </p:nvSpPr>
        <p:spPr>
          <a:xfrm>
            <a:off x="6492240" y="16002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1-2 dias para API completa: migrations, models, controllers, auth, seed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9"/>
          <p:cNvSpPr/>
          <p:nvPr/>
        </p:nvSpPr>
        <p:spPr>
          <a:xfrm>
            <a:off x="457200" y="2743200"/>
            <a:ext cx="54864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9"/>
          <p:cNvSpPr/>
          <p:nvPr/>
        </p:nvSpPr>
        <p:spPr>
          <a:xfrm>
            <a:off x="457200" y="2743200"/>
            <a:ext cx="91440" cy="1463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9"/>
          <p:cNvSpPr/>
          <p:nvPr/>
        </p:nvSpPr>
        <p:spPr>
          <a:xfrm>
            <a:off x="731520" y="28346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Testes Automatizados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9"/>
          <p:cNvSpPr/>
          <p:nvPr/>
        </p:nvSpPr>
        <p:spPr>
          <a:xfrm>
            <a:off x="731520" y="324612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33 unit + 42 integração + 70 frontend + 47 E2E gerados rapidamente com cobertura consistente.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9"/>
          <p:cNvSpPr/>
          <p:nvPr/>
        </p:nvSpPr>
        <p:spPr>
          <a:xfrm>
            <a:off x="6217920" y="2743200"/>
            <a:ext cx="54864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9"/>
          <p:cNvSpPr/>
          <p:nvPr/>
        </p:nvSpPr>
        <p:spPr>
          <a:xfrm>
            <a:off x="6217920" y="2743200"/>
            <a:ext cx="91440" cy="1463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9"/>
          <p:cNvSpPr/>
          <p:nvPr/>
        </p:nvSpPr>
        <p:spPr>
          <a:xfrm>
            <a:off x="6492240" y="28346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Planejamento Automatizado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9"/>
          <p:cNvSpPr/>
          <p:nvPr/>
        </p:nvSpPr>
        <p:spPr>
          <a:xfrm>
            <a:off x="6492240" y="324612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Planos detalhados com tasks, código completo, comandos de verificação e estrutura de commits.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9"/>
          <p:cNvSpPr/>
          <p:nvPr/>
        </p:nvSpPr>
        <p:spPr>
          <a:xfrm>
            <a:off x="457200" y="4389120"/>
            <a:ext cx="54864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9"/>
          <p:cNvSpPr/>
          <p:nvPr/>
        </p:nvSpPr>
        <p:spPr>
          <a:xfrm>
            <a:off x="457200" y="4389120"/>
            <a:ext cx="91440" cy="1463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9"/>
          <p:cNvSpPr/>
          <p:nvPr/>
        </p:nvSpPr>
        <p:spPr>
          <a:xfrm>
            <a:off x="731520" y="44805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Brainstorming Estruturado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9"/>
          <p:cNvSpPr/>
          <p:nvPr/>
        </p:nvSpPr>
        <p:spPr>
          <a:xfrm>
            <a:off x="731520" y="489204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Exploração de múltiplas abordagens, trade-offs, riscos e alternativas não óbvias.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9"/>
          <p:cNvSpPr/>
          <p:nvPr/>
        </p:nvSpPr>
        <p:spPr>
          <a:xfrm>
            <a:off x="6217920" y="4389120"/>
            <a:ext cx="54864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9"/>
          <p:cNvSpPr/>
          <p:nvPr/>
        </p:nvSpPr>
        <p:spPr>
          <a:xfrm>
            <a:off x="6217920" y="4389120"/>
            <a:ext cx="91440" cy="14630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9"/>
          <p:cNvSpPr/>
          <p:nvPr/>
        </p:nvSpPr>
        <p:spPr>
          <a:xfrm>
            <a:off x="6492240" y="44805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Aprendizado Acelerado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9"/>
          <p:cNvSpPr/>
          <p:nvPr/>
        </p:nvSpPr>
        <p:spPr>
          <a:xfrm>
            <a:off x="6492240" y="489204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Exposição a Signals, Standalone, Zod, Playwright. Código de referência de alta qualidade.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0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0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Principais Dificuldades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0"/>
          <p:cNvSpPr/>
          <p:nvPr/>
        </p:nvSpPr>
        <p:spPr>
          <a:xfrm>
            <a:off x="457200" y="1097280"/>
            <a:ext cx="54864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0"/>
          <p:cNvSpPr/>
          <p:nvPr/>
        </p:nvSpPr>
        <p:spPr>
          <a:xfrm>
            <a:off x="640080" y="11430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Fidelidade Visual Stitch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0"/>
          <p:cNvSpPr/>
          <p:nvPr/>
        </p:nvSpPr>
        <p:spPr>
          <a:xfrm>
            <a:off x="4572000" y="1188720"/>
            <a:ext cx="1097280" cy="274320"/>
          </a:xfrm>
          <a:prstGeom prst="roundRect">
            <a:avLst>
              <a:gd fmla="val 13333" name="adj"/>
            </a:avLst>
          </a:prstGeom>
          <a:solidFill>
            <a:srgbClr val="B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0"/>
          <p:cNvSpPr/>
          <p:nvPr/>
        </p:nvSpPr>
        <p:spPr>
          <a:xfrm>
            <a:off x="4572000" y="11887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0"/>
          <p:cNvSpPr/>
          <p:nvPr/>
        </p:nvSpPr>
        <p:spPr>
          <a:xfrm>
            <a:off x="640080" y="155448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HTML/CSS do Stitch não utilizável diretamente. 30% do tempo frontend foi ajuste CSS.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0"/>
          <p:cNvSpPr/>
          <p:nvPr/>
        </p:nvSpPr>
        <p:spPr>
          <a:xfrm>
            <a:off x="6217920" y="1097280"/>
            <a:ext cx="54864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0"/>
          <p:cNvSpPr/>
          <p:nvPr/>
        </p:nvSpPr>
        <p:spPr>
          <a:xfrm>
            <a:off x="6400800" y="11430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Prompts Detalhados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0"/>
          <p:cNvSpPr/>
          <p:nvPr/>
        </p:nvSpPr>
        <p:spPr>
          <a:xfrm>
            <a:off x="10332720" y="1188720"/>
            <a:ext cx="1097280" cy="274320"/>
          </a:xfrm>
          <a:prstGeom prst="roundRect">
            <a:avLst>
              <a:gd fmla="val 13333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0"/>
          <p:cNvSpPr/>
          <p:nvPr/>
        </p:nvSpPr>
        <p:spPr>
          <a:xfrm>
            <a:off x="10332720" y="11887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Média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0"/>
          <p:cNvSpPr/>
          <p:nvPr/>
        </p:nvSpPr>
        <p:spPr>
          <a:xfrm>
            <a:off x="6400800" y="155448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Qualidade do código ∝ qualidade do prompt. 20% do tempo refinando prompts.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0"/>
          <p:cNvSpPr/>
          <p:nvPr/>
        </p:nvSpPr>
        <p:spPr>
          <a:xfrm>
            <a:off x="457200" y="2788920"/>
            <a:ext cx="54864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0"/>
          <p:cNvSpPr/>
          <p:nvPr/>
        </p:nvSpPr>
        <p:spPr>
          <a:xfrm>
            <a:off x="640080" y="28346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Componentes Monolíticos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0"/>
          <p:cNvSpPr/>
          <p:nvPr/>
        </p:nvSpPr>
        <p:spPr>
          <a:xfrm>
            <a:off x="4572000" y="2880360"/>
            <a:ext cx="1097280" cy="274320"/>
          </a:xfrm>
          <a:prstGeom prst="roundRect">
            <a:avLst>
              <a:gd fmla="val 13333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0"/>
          <p:cNvSpPr/>
          <p:nvPr/>
        </p:nvSpPr>
        <p:spPr>
          <a:xfrm>
            <a:off x="4572000" y="28803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Média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0"/>
          <p:cNvSpPr/>
          <p:nvPr/>
        </p:nvSpPr>
        <p:spPr>
          <a:xfrm>
            <a:off x="640080" y="324612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IA tende a gerar god components de 300+ linhas</a:t>
            </a:r>
            <a:r>
              <a:rPr lang="en-US" sz="1100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0"/>
          <p:cNvSpPr/>
          <p:nvPr/>
        </p:nvSpPr>
        <p:spPr>
          <a:xfrm>
            <a:off x="6217920" y="2788920"/>
            <a:ext cx="54864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0"/>
          <p:cNvSpPr/>
          <p:nvPr/>
        </p:nvSpPr>
        <p:spPr>
          <a:xfrm>
            <a:off x="6400800" y="28346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Perda de Contexto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0"/>
          <p:cNvSpPr/>
          <p:nvPr/>
        </p:nvSpPr>
        <p:spPr>
          <a:xfrm>
            <a:off x="10332720" y="2880360"/>
            <a:ext cx="1097280" cy="274320"/>
          </a:xfrm>
          <a:prstGeom prst="roundRect">
            <a:avLst>
              <a:gd fmla="val 13333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0"/>
          <p:cNvSpPr/>
          <p:nvPr/>
        </p:nvSpPr>
        <p:spPr>
          <a:xfrm>
            <a:off x="10332720" y="28803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Média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0"/>
          <p:cNvSpPr/>
          <p:nvPr/>
        </p:nvSpPr>
        <p:spPr>
          <a:xfrm>
            <a:off x="6400800" y="324612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Sessões longas causam inconsistências e duplicação. AGENTS.md ajuda.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0"/>
          <p:cNvSpPr/>
          <p:nvPr/>
        </p:nvSpPr>
        <p:spPr>
          <a:xfrm>
            <a:off x="457200" y="4480560"/>
            <a:ext cx="54864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0"/>
          <p:cNvSpPr/>
          <p:nvPr/>
        </p:nvSpPr>
        <p:spPr>
          <a:xfrm>
            <a:off x="640080" y="452628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Troubleshooting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0"/>
          <p:cNvSpPr/>
          <p:nvPr/>
        </p:nvSpPr>
        <p:spPr>
          <a:xfrm>
            <a:off x="4572000" y="4572000"/>
            <a:ext cx="1097280" cy="274320"/>
          </a:xfrm>
          <a:prstGeom prst="roundRect">
            <a:avLst>
              <a:gd fmla="val 13333" name="adj"/>
            </a:avLst>
          </a:prstGeom>
          <a:solidFill>
            <a:srgbClr val="B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0"/>
          <p:cNvSpPr/>
          <p:nvPr/>
        </p:nvSpPr>
        <p:spPr>
          <a:xfrm>
            <a:off x="4572000" y="45720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0"/>
          <p:cNvSpPr/>
          <p:nvPr/>
        </p:nvSpPr>
        <p:spPr>
          <a:xfrm>
            <a:off x="640080" y="493776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IA tem dificuldade com debugging iterativo. Sugere mudanças aleatórias.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0"/>
          <p:cNvSpPr/>
          <p:nvPr/>
        </p:nvSpPr>
        <p:spPr>
          <a:xfrm>
            <a:off x="6217920" y="4480560"/>
            <a:ext cx="54864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0"/>
          <p:cNvSpPr/>
          <p:nvPr/>
        </p:nvSpPr>
        <p:spPr>
          <a:xfrm>
            <a:off x="6400800" y="452628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Viés de Confirmação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0"/>
          <p:cNvSpPr/>
          <p:nvPr/>
        </p:nvSpPr>
        <p:spPr>
          <a:xfrm>
            <a:off x="10332720" y="4572000"/>
            <a:ext cx="1097280" cy="274320"/>
          </a:xfrm>
          <a:prstGeom prst="roundRect">
            <a:avLst>
              <a:gd fmla="val 13333" name="adj"/>
            </a:avLst>
          </a:prstGeom>
          <a:solidFill>
            <a:srgbClr val="868E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0"/>
          <p:cNvSpPr/>
          <p:nvPr/>
        </p:nvSpPr>
        <p:spPr>
          <a:xfrm>
            <a:off x="10332720" y="45720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Baixa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0"/>
          <p:cNvSpPr/>
          <p:nvPr/>
        </p:nvSpPr>
        <p:spPr>
          <a:xfrm>
            <a:off x="6400800" y="493776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IA tende a concordar com sugestões humanas mesmo quando erradas.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1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1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Métricas da POC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1"/>
          <p:cNvSpPr/>
          <p:nvPr/>
        </p:nvSpPr>
        <p:spPr>
          <a:xfrm>
            <a:off x="457200" y="1097280"/>
            <a:ext cx="2651760" cy="320040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1"/>
          <p:cNvSpPr/>
          <p:nvPr/>
        </p:nvSpPr>
        <p:spPr>
          <a:xfrm>
            <a:off x="457200" y="1097280"/>
            <a:ext cx="2651760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1"/>
          <p:cNvSpPr/>
          <p:nvPr/>
        </p:nvSpPr>
        <p:spPr>
          <a:xfrm>
            <a:off x="457200" y="10972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Gerais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1"/>
          <p:cNvSpPr/>
          <p:nvPr/>
        </p:nvSpPr>
        <p:spPr>
          <a:xfrm>
            <a:off x="594360" y="17373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Tempo total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1"/>
          <p:cNvSpPr/>
          <p:nvPr/>
        </p:nvSpPr>
        <p:spPr>
          <a:xfrm>
            <a:off x="594360" y="19659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~8 dias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1"/>
          <p:cNvSpPr/>
          <p:nvPr/>
        </p:nvSpPr>
        <p:spPr>
          <a:xfrm>
            <a:off x="594360" y="23317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Fases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1"/>
          <p:cNvSpPr/>
          <p:nvPr/>
        </p:nvSpPr>
        <p:spPr>
          <a:xfrm>
            <a:off x="594360" y="25603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1"/>
          <p:cNvSpPr/>
          <p:nvPr/>
        </p:nvSpPr>
        <p:spPr>
          <a:xfrm>
            <a:off x="594360" y="29260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Commits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1"/>
          <p:cNvSpPr/>
          <p:nvPr/>
        </p:nvSpPr>
        <p:spPr>
          <a:xfrm>
            <a:off x="594360" y="3154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Inter"/>
              <a:buNone/>
            </a:pPr>
            <a:r>
              <a:rPr b="1" lang="en-US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80+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1"/>
          <p:cNvSpPr/>
          <p:nvPr/>
        </p:nvSpPr>
        <p:spPr>
          <a:xfrm>
            <a:off x="594360" y="35204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Arquivos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1"/>
          <p:cNvSpPr/>
          <p:nvPr/>
        </p:nvSpPr>
        <p:spPr>
          <a:xfrm>
            <a:off x="594360" y="37490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150+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1"/>
          <p:cNvSpPr/>
          <p:nvPr/>
        </p:nvSpPr>
        <p:spPr>
          <a:xfrm>
            <a:off x="3291840" y="1097280"/>
            <a:ext cx="2651760" cy="320040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1"/>
          <p:cNvSpPr/>
          <p:nvPr/>
        </p:nvSpPr>
        <p:spPr>
          <a:xfrm>
            <a:off x="3291840" y="1097280"/>
            <a:ext cx="265176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1"/>
          <p:cNvSpPr/>
          <p:nvPr/>
        </p:nvSpPr>
        <p:spPr>
          <a:xfrm>
            <a:off x="3291840" y="10972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1"/>
          <p:cNvSpPr/>
          <p:nvPr/>
        </p:nvSpPr>
        <p:spPr>
          <a:xfrm>
            <a:off x="3429000" y="17373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Endpoints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1"/>
          <p:cNvSpPr/>
          <p:nvPr/>
        </p:nvSpPr>
        <p:spPr>
          <a:xfrm>
            <a:off x="3429000" y="19659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1"/>
          <p:cNvSpPr/>
          <p:nvPr/>
        </p:nvSpPr>
        <p:spPr>
          <a:xfrm>
            <a:off x="3429000" y="23317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Migrations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1"/>
          <p:cNvSpPr/>
          <p:nvPr/>
        </p:nvSpPr>
        <p:spPr>
          <a:xfrm>
            <a:off x="3429000" y="25603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1"/>
          <p:cNvSpPr/>
          <p:nvPr/>
        </p:nvSpPr>
        <p:spPr>
          <a:xfrm>
            <a:off x="3429000" y="29260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Tabelas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1"/>
          <p:cNvSpPr/>
          <p:nvPr/>
        </p:nvSpPr>
        <p:spPr>
          <a:xfrm>
            <a:off x="3429000" y="3154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1"/>
          <p:cNvSpPr/>
          <p:nvPr/>
        </p:nvSpPr>
        <p:spPr>
          <a:xfrm>
            <a:off x="3429000" y="35204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1"/>
          <p:cNvSpPr/>
          <p:nvPr/>
        </p:nvSpPr>
        <p:spPr>
          <a:xfrm>
            <a:off x="3429000" y="37490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1"/>
          <p:cNvSpPr/>
          <p:nvPr/>
        </p:nvSpPr>
        <p:spPr>
          <a:xfrm>
            <a:off x="6126480" y="1097280"/>
            <a:ext cx="2651760" cy="320040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1"/>
          <p:cNvSpPr/>
          <p:nvPr/>
        </p:nvSpPr>
        <p:spPr>
          <a:xfrm>
            <a:off x="6126480" y="1097280"/>
            <a:ext cx="2651760" cy="502920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1"/>
          <p:cNvSpPr/>
          <p:nvPr/>
        </p:nvSpPr>
        <p:spPr>
          <a:xfrm>
            <a:off x="6126480" y="10972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1"/>
          <p:cNvSpPr/>
          <p:nvPr/>
        </p:nvSpPr>
        <p:spPr>
          <a:xfrm>
            <a:off x="6263640" y="17373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Telas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1"/>
          <p:cNvSpPr/>
          <p:nvPr/>
        </p:nvSpPr>
        <p:spPr>
          <a:xfrm>
            <a:off x="6263640" y="19659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1"/>
          <p:cNvSpPr/>
          <p:nvPr/>
        </p:nvSpPr>
        <p:spPr>
          <a:xfrm>
            <a:off x="6263640" y="23317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Rotas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1"/>
          <p:cNvSpPr/>
          <p:nvPr/>
        </p:nvSpPr>
        <p:spPr>
          <a:xfrm>
            <a:off x="6263640" y="25603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1"/>
          <p:cNvSpPr/>
          <p:nvPr/>
        </p:nvSpPr>
        <p:spPr>
          <a:xfrm>
            <a:off x="6263640" y="29260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Shared Comp.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1"/>
          <p:cNvSpPr/>
          <p:nvPr/>
        </p:nvSpPr>
        <p:spPr>
          <a:xfrm>
            <a:off x="6263640" y="3154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1"/>
          <p:cNvSpPr/>
          <p:nvPr/>
        </p:nvSpPr>
        <p:spPr>
          <a:xfrm>
            <a:off x="6263640" y="35204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SVG Icons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1"/>
          <p:cNvSpPr/>
          <p:nvPr/>
        </p:nvSpPr>
        <p:spPr>
          <a:xfrm>
            <a:off x="6263640" y="37490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30+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1"/>
          <p:cNvSpPr/>
          <p:nvPr/>
        </p:nvSpPr>
        <p:spPr>
          <a:xfrm>
            <a:off x="8961120" y="1097280"/>
            <a:ext cx="2651760" cy="320040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1"/>
          <p:cNvSpPr/>
          <p:nvPr/>
        </p:nvSpPr>
        <p:spPr>
          <a:xfrm>
            <a:off x="8961120" y="1097280"/>
            <a:ext cx="265176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1"/>
          <p:cNvSpPr/>
          <p:nvPr/>
        </p:nvSpPr>
        <p:spPr>
          <a:xfrm>
            <a:off x="8961120" y="109728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Código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1"/>
          <p:cNvSpPr/>
          <p:nvPr/>
        </p:nvSpPr>
        <p:spPr>
          <a:xfrm>
            <a:off x="9098280" y="17373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Linhas backend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1"/>
          <p:cNvSpPr/>
          <p:nvPr/>
        </p:nvSpPr>
        <p:spPr>
          <a:xfrm>
            <a:off x="9098280" y="19659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~2.500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1"/>
          <p:cNvSpPr/>
          <p:nvPr/>
        </p:nvSpPr>
        <p:spPr>
          <a:xfrm>
            <a:off x="9098280" y="23317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Linhas frontend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1"/>
          <p:cNvSpPr/>
          <p:nvPr/>
        </p:nvSpPr>
        <p:spPr>
          <a:xfrm>
            <a:off x="9098280" y="25603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~8.000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1"/>
          <p:cNvSpPr/>
          <p:nvPr/>
        </p:nvSpPr>
        <p:spPr>
          <a:xfrm>
            <a:off x="9098280" y="29260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Linhas teste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1"/>
          <p:cNvSpPr/>
          <p:nvPr/>
        </p:nvSpPr>
        <p:spPr>
          <a:xfrm>
            <a:off x="9098280" y="3154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~5.000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1"/>
          <p:cNvSpPr/>
          <p:nvPr/>
        </p:nvSpPr>
        <p:spPr>
          <a:xfrm>
            <a:off x="9098280" y="35204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CSS props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1"/>
          <p:cNvSpPr/>
          <p:nvPr/>
        </p:nvSpPr>
        <p:spPr>
          <a:xfrm>
            <a:off x="9098280" y="37490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50+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1"/>
          <p:cNvSpPr/>
          <p:nvPr/>
        </p:nvSpPr>
        <p:spPr>
          <a:xfrm>
            <a:off x="457200" y="4572000"/>
            <a:ext cx="11274552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1"/>
          <p:cNvSpPr/>
          <p:nvPr/>
        </p:nvSpPr>
        <p:spPr>
          <a:xfrm>
            <a:off x="640080" y="466344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Testes: 192 total  •  Backend Unit: 33  •  Backend Integração: 42  •  Frontend: 70  •  E2E: 47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1"/>
          <p:cNvSpPr/>
          <p:nvPr/>
        </p:nvSpPr>
        <p:spPr>
          <a:xfrm>
            <a:off x="640080" y="512064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Cobertura backend: ~85%  •  Cobertura frontend: ~70%  •  Stitch alinhamento: 83% totalmente alinhado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1"/>
          <p:cNvSpPr/>
          <p:nvPr/>
        </p:nvSpPr>
        <p:spPr>
          <a:xfrm>
            <a:off x="640080" y="548640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Seed: 5 usuários | 15 produtos | 8 endereços | 27 transações | 7 pedidos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2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2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2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O Papel Humano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2"/>
          <p:cNvSpPr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Humano (100%)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2"/>
          <p:cNvSpPr/>
          <p:nvPr/>
        </p:nvSpPr>
        <p:spPr>
          <a:xfrm>
            <a:off x="640080" y="1600200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2"/>
          <p:cNvSpPr/>
          <p:nvPr/>
        </p:nvSpPr>
        <p:spPr>
          <a:xfrm>
            <a:off x="868680" y="16002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Definição de requisitos (PRD com 7 </a:t>
            </a:r>
            <a:r>
              <a:rPr lang="en-US" sz="1000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requisitos funcionais</a:t>
            </a: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2"/>
          <p:cNvSpPr/>
          <p:nvPr/>
        </p:nvSpPr>
        <p:spPr>
          <a:xfrm>
            <a:off x="640080" y="1947672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2"/>
          <p:cNvSpPr/>
          <p:nvPr/>
        </p:nvSpPr>
        <p:spPr>
          <a:xfrm>
            <a:off x="868680" y="194767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Decisões arquiteturais (stack, estrutura)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2"/>
          <p:cNvSpPr/>
          <p:nvPr/>
        </p:nvSpPr>
        <p:spPr>
          <a:xfrm>
            <a:off x="640080" y="2295144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2"/>
          <p:cNvSpPr/>
          <p:nvPr/>
        </p:nvSpPr>
        <p:spPr>
          <a:xfrm>
            <a:off x="868680" y="2295144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Prompt engineering para cada fase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2"/>
          <p:cNvSpPr/>
          <p:nvPr/>
        </p:nvSpPr>
        <p:spPr>
          <a:xfrm>
            <a:off x="640080" y="2642616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2"/>
          <p:cNvSpPr/>
          <p:nvPr/>
        </p:nvSpPr>
        <p:spPr>
          <a:xfrm>
            <a:off x="868680" y="2642616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Revisão de código e de documentação (identificar issues críticas)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2"/>
          <p:cNvSpPr/>
          <p:nvPr/>
        </p:nvSpPr>
        <p:spPr>
          <a:xfrm>
            <a:off x="640080" y="2990088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2"/>
          <p:cNvSpPr/>
          <p:nvPr/>
        </p:nvSpPr>
        <p:spPr>
          <a:xfrm>
            <a:off x="868680" y="299008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Aprovar/rejeitar abordagens (brainstorming)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2"/>
          <p:cNvSpPr/>
          <p:nvPr/>
        </p:nvSpPr>
        <p:spPr>
          <a:xfrm>
            <a:off x="640080" y="3337560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2"/>
          <p:cNvSpPr/>
          <p:nvPr/>
        </p:nvSpPr>
        <p:spPr>
          <a:xfrm>
            <a:off x="868680" y="33375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Validação visual Stitch × implementação</a:t>
            </a:r>
            <a:endParaRPr sz="1000">
              <a:solidFill>
                <a:srgbClr val="26181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1" name="Google Shape;831;p22"/>
          <p:cNvSpPr/>
          <p:nvPr/>
        </p:nvSpPr>
        <p:spPr>
          <a:xfrm>
            <a:off x="640080" y="3685032"/>
            <a:ext cx="54864" cy="2286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2"/>
          <p:cNvSpPr/>
          <p:nvPr/>
        </p:nvSpPr>
        <p:spPr>
          <a:xfrm>
            <a:off x="868680" y="368503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Ajustes finos de CSS, responsividade, UX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2"/>
          <p:cNvSpPr/>
          <p:nvPr/>
        </p:nvSpPr>
        <p:spPr>
          <a:xfrm>
            <a:off x="868680" y="4032504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2"/>
          <p:cNvSpPr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IA (com supervisão)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2"/>
          <p:cNvSpPr/>
          <p:nvPr/>
        </p:nvSpPr>
        <p:spPr>
          <a:xfrm>
            <a:off x="6400800" y="1600200"/>
            <a:ext cx="54864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22"/>
          <p:cNvSpPr/>
          <p:nvPr/>
        </p:nvSpPr>
        <p:spPr>
          <a:xfrm>
            <a:off x="6629400" y="160020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Geração de boilerplate (CRUD, migrations)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2"/>
          <p:cNvSpPr/>
          <p:nvPr/>
        </p:nvSpPr>
        <p:spPr>
          <a:xfrm>
            <a:off x="6400800" y="1947672"/>
            <a:ext cx="54864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2"/>
          <p:cNvSpPr/>
          <p:nvPr/>
        </p:nvSpPr>
        <p:spPr>
          <a:xfrm>
            <a:off x="6629400" y="194767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Planejamento detalhado (tasks, arquivos)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2"/>
          <p:cNvSpPr/>
          <p:nvPr/>
        </p:nvSpPr>
        <p:spPr>
          <a:xfrm>
            <a:off x="6400800" y="2295144"/>
            <a:ext cx="54864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22"/>
          <p:cNvSpPr/>
          <p:nvPr/>
        </p:nvSpPr>
        <p:spPr>
          <a:xfrm>
            <a:off x="6629400" y="2295144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Geração de testes unitários (33)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2"/>
          <p:cNvSpPr/>
          <p:nvPr/>
        </p:nvSpPr>
        <p:spPr>
          <a:xfrm>
            <a:off x="6400800" y="2642616"/>
            <a:ext cx="54864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2"/>
          <p:cNvSpPr/>
          <p:nvPr/>
        </p:nvSpPr>
        <p:spPr>
          <a:xfrm>
            <a:off x="6629400" y="2642616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Geração de testes integração (42)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2"/>
          <p:cNvSpPr/>
          <p:nvPr/>
        </p:nvSpPr>
        <p:spPr>
          <a:xfrm>
            <a:off x="6400800" y="2990088"/>
            <a:ext cx="54864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2"/>
          <p:cNvSpPr/>
          <p:nvPr/>
        </p:nvSpPr>
        <p:spPr>
          <a:xfrm>
            <a:off x="6629400" y="299008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Tradução Stitch → Angular templates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2"/>
          <p:cNvSpPr/>
          <p:nvPr/>
        </p:nvSpPr>
        <p:spPr>
          <a:xfrm>
            <a:off x="6400800" y="3337560"/>
            <a:ext cx="54864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22"/>
          <p:cNvSpPr/>
          <p:nvPr/>
        </p:nvSpPr>
        <p:spPr>
          <a:xfrm>
            <a:off x="6629400" y="33375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Testes frontend (70) e E2E (47)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2"/>
          <p:cNvSpPr/>
          <p:nvPr/>
        </p:nvSpPr>
        <p:spPr>
          <a:xfrm>
            <a:off x="6400800" y="3685032"/>
            <a:ext cx="54864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2"/>
          <p:cNvSpPr/>
          <p:nvPr/>
        </p:nvSpPr>
        <p:spPr>
          <a:xfrm>
            <a:off x="6629400" y="368503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Documentação (README, relatórios)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2"/>
          <p:cNvSpPr/>
          <p:nvPr/>
        </p:nvSpPr>
        <p:spPr>
          <a:xfrm>
            <a:off x="6400800" y="4032504"/>
            <a:ext cx="54864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22"/>
          <p:cNvSpPr/>
          <p:nvPr/>
        </p:nvSpPr>
        <p:spPr>
          <a:xfrm>
            <a:off x="6629400" y="4032504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Geração de design tokens e CSS props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2"/>
          <p:cNvSpPr/>
          <p:nvPr/>
        </p:nvSpPr>
        <p:spPr>
          <a:xfrm>
            <a:off x="749980" y="4823453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200"/>
              <a:buFont typeface="Inter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2"/>
          <p:cNvSpPr/>
          <p:nvPr/>
        </p:nvSpPr>
        <p:spPr>
          <a:xfrm>
            <a:off x="640080" y="502920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F6"/>
        </a:solidFill>
      </p:bgPr>
    </p:bg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3"/>
          <p:cNvSpPr/>
          <p:nvPr/>
        </p:nvSpPr>
        <p:spPr>
          <a:xfrm>
            <a:off x="457200" y="6446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POC Dotz Loyalty — Desenvolvimento Guiado por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3"/>
          <p:cNvSpPr/>
          <p:nvPr/>
        </p:nvSpPr>
        <p:spPr>
          <a:xfrm>
            <a:off x="11430000" y="64465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3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Aprendizados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3"/>
          <p:cNvSpPr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A4E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D8A4E"/>
                </a:solidFill>
                <a:latin typeface="Inter"/>
                <a:ea typeface="Inter"/>
                <a:cs typeface="Inter"/>
                <a:sym typeface="Inter"/>
              </a:rPr>
              <a:t>Onde Acelera MAIS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3"/>
          <p:cNvSpPr/>
          <p:nvPr/>
        </p:nvSpPr>
        <p:spPr>
          <a:xfrm>
            <a:off x="640080" y="1554480"/>
            <a:ext cx="54864" cy="201168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3"/>
          <p:cNvSpPr/>
          <p:nvPr/>
        </p:nvSpPr>
        <p:spPr>
          <a:xfrm>
            <a:off x="868680" y="1554480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Boilerplate CRUD → 5-10x mais rápido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3"/>
          <p:cNvSpPr/>
          <p:nvPr/>
        </p:nvSpPr>
        <p:spPr>
          <a:xfrm>
            <a:off x="640080" y="1874520"/>
            <a:ext cx="54864" cy="201168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23"/>
          <p:cNvSpPr/>
          <p:nvPr/>
        </p:nvSpPr>
        <p:spPr>
          <a:xfrm>
            <a:off x="868680" y="1874520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Testes automatizados → 3-5x mais rápido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3"/>
          <p:cNvSpPr/>
          <p:nvPr/>
        </p:nvSpPr>
        <p:spPr>
          <a:xfrm>
            <a:off x="640080" y="2194560"/>
            <a:ext cx="54864" cy="201168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3"/>
          <p:cNvSpPr/>
          <p:nvPr/>
        </p:nvSpPr>
        <p:spPr>
          <a:xfrm>
            <a:off x="868680" y="2194560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Planejamento tasks → 2-3x mais rápido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3"/>
          <p:cNvSpPr/>
          <p:nvPr/>
        </p:nvSpPr>
        <p:spPr>
          <a:xfrm>
            <a:off x="640080" y="2514600"/>
            <a:ext cx="54864" cy="201168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3"/>
          <p:cNvSpPr/>
          <p:nvPr/>
        </p:nvSpPr>
        <p:spPr>
          <a:xfrm>
            <a:off x="868680" y="2514600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Documentação → 5x mais rápido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3"/>
          <p:cNvSpPr/>
          <p:nvPr/>
        </p:nvSpPr>
        <p:spPr>
          <a:xfrm>
            <a:off x="640080" y="2834640"/>
            <a:ext cx="54864" cy="201168"/>
          </a:xfrm>
          <a:prstGeom prst="rect">
            <a:avLst/>
          </a:prstGeom>
          <a:solidFill>
            <a:srgbClr val="2D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3"/>
          <p:cNvSpPr/>
          <p:nvPr/>
        </p:nvSpPr>
        <p:spPr>
          <a:xfrm>
            <a:off x="868680" y="2834640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Design tokens + CSS → 3x mais rápido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3"/>
          <p:cNvSpPr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1A1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BA1A1A"/>
                </a:solidFill>
                <a:latin typeface="Inter"/>
                <a:ea typeface="Inter"/>
                <a:cs typeface="Inter"/>
                <a:sym typeface="Inter"/>
              </a:rPr>
              <a:t>Onde Acelera MENOS / Atrapalha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3"/>
          <p:cNvSpPr/>
          <p:nvPr/>
        </p:nvSpPr>
        <p:spPr>
          <a:xfrm>
            <a:off x="6400800" y="1554480"/>
            <a:ext cx="54864" cy="201168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3"/>
          <p:cNvSpPr/>
          <p:nvPr/>
        </p:nvSpPr>
        <p:spPr>
          <a:xfrm>
            <a:off x="6629400" y="1554480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Debugging complexo → mais lento que humano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3"/>
          <p:cNvSpPr/>
          <p:nvPr/>
        </p:nvSpPr>
        <p:spPr>
          <a:xfrm>
            <a:off x="6400800" y="1874520"/>
            <a:ext cx="54864" cy="201168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23"/>
          <p:cNvSpPr/>
          <p:nvPr/>
        </p:nvSpPr>
        <p:spPr>
          <a:xfrm>
            <a:off x="6629400" y="1874520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Decisões arquiteturais → requer supervisão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3"/>
          <p:cNvSpPr/>
          <p:nvPr/>
        </p:nvSpPr>
        <p:spPr>
          <a:xfrm>
            <a:off x="6400800" y="2194560"/>
            <a:ext cx="54864" cy="201168"/>
          </a:xfrm>
          <a:prstGeom prst="rect">
            <a:avLst/>
          </a:prstGeom>
          <a:solidFill>
            <a:srgbClr val="B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23"/>
          <p:cNvSpPr/>
          <p:nvPr/>
        </p:nvSpPr>
        <p:spPr>
          <a:xfrm>
            <a:off x="6629400" y="2194560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CSS fine-tuning → tentativa e erro lento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3"/>
          <p:cNvSpPr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Impacto Real na Produtividade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3"/>
          <p:cNvSpPr/>
          <p:nvPr/>
        </p:nvSpPr>
        <p:spPr>
          <a:xfrm>
            <a:off x="457200" y="3657600"/>
            <a:ext cx="347472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23"/>
          <p:cNvSpPr/>
          <p:nvPr/>
        </p:nvSpPr>
        <p:spPr>
          <a:xfrm>
            <a:off x="457200" y="36576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3"/>
          <p:cNvSpPr/>
          <p:nvPr/>
        </p:nvSpPr>
        <p:spPr>
          <a:xfrm>
            <a:off x="548640" y="39776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2 dias (IA) vs 6-8 dias (manual)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3-4x mais rápido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3"/>
          <p:cNvSpPr/>
          <p:nvPr/>
        </p:nvSpPr>
        <p:spPr>
          <a:xfrm>
            <a:off x="4297680" y="3657600"/>
            <a:ext cx="347472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3"/>
          <p:cNvSpPr/>
          <p:nvPr/>
        </p:nvSpPr>
        <p:spPr>
          <a:xfrm>
            <a:off x="4297680" y="36576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Frontend + Testes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3"/>
          <p:cNvSpPr/>
          <p:nvPr/>
        </p:nvSpPr>
        <p:spPr>
          <a:xfrm>
            <a:off x="4389120" y="39776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5 dias (IA) vs 13-19 dias (manual)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4136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A4136"/>
                </a:solidFill>
                <a:latin typeface="Inter"/>
                <a:ea typeface="Inter"/>
                <a:cs typeface="Inter"/>
                <a:sym typeface="Inter"/>
              </a:rPr>
              <a:t>3-4x mais rápido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3"/>
          <p:cNvSpPr/>
          <p:nvPr/>
        </p:nvSpPr>
        <p:spPr>
          <a:xfrm>
            <a:off x="8138160" y="3657600"/>
            <a:ext cx="347472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23"/>
          <p:cNvSpPr/>
          <p:nvPr/>
        </p:nvSpPr>
        <p:spPr>
          <a:xfrm>
            <a:off x="8138160" y="36576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Total Estimado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3"/>
          <p:cNvSpPr/>
          <p:nvPr/>
        </p:nvSpPr>
        <p:spPr>
          <a:xfrm>
            <a:off x="8229600" y="39776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~8 dias (IA) vs ~25-30 dias (manual)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3x de ganho conservador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3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0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6B00"/>
                </a:solidFill>
                <a:latin typeface="Inter"/>
                <a:ea typeface="Inter"/>
                <a:cs typeface="Inter"/>
                <a:sym typeface="Inter"/>
              </a:rPr>
              <a:t>Cuidados Necessários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3"/>
          <p:cNvSpPr/>
          <p:nvPr/>
        </p:nvSpPr>
        <p:spPr>
          <a:xfrm>
            <a:off x="457200" y="5394960"/>
            <a:ext cx="112745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1812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0" i="0" lang="en-US" sz="1100" u="none" cap="none" strike="noStrike">
                <a:solidFill>
                  <a:srgbClr val="261812"/>
                </a:solidFill>
                <a:latin typeface="Inter"/>
                <a:ea typeface="Inter"/>
                <a:cs typeface="Inter"/>
                <a:sym typeface="Inter"/>
              </a:rPr>
              <a:t>Nunca confiar cegamente • Prompts precisos • Commits frequentes • Testes antes de cada fase • Separar branches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6B00"/>
        </a:solidFill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25"/>
          <p:cNvSpPr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Obrigad</a:t>
            </a:r>
            <a:r>
              <a:rPr b="1" lang="en-US" sz="4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1" i="0" lang="en-US" sz="4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5"/>
          <p:cNvSpPr/>
          <p:nvPr/>
        </p:nvSpPr>
        <p:spPr>
          <a:xfrm>
            <a:off x="457200" y="25603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BCC"/>
              </a:buClr>
              <a:buSzPts val="2000"/>
              <a:buFont typeface="Inter"/>
              <a:buNone/>
            </a:pPr>
            <a:r>
              <a:rPr b="0" i="0" lang="en-US" sz="2000" u="none" cap="none" strike="noStrike">
                <a:solidFill>
                  <a:srgbClr val="FFDBCC"/>
                </a:solidFill>
                <a:latin typeface="Inter"/>
                <a:ea typeface="Inter"/>
                <a:cs typeface="Inter"/>
                <a:sym typeface="Inter"/>
              </a:rPr>
              <a:t>POC Dotz Loyalty — AI-First Engineering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5"/>
          <p:cNvSpPr/>
          <p:nvPr/>
        </p:nvSpPr>
        <p:spPr>
          <a:xfrm>
            <a:off x="457200" y="3200400"/>
            <a:ext cx="11274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BCC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FFDBCC"/>
                </a:solidFill>
                <a:latin typeface="Inter"/>
                <a:ea typeface="Inter"/>
                <a:cs typeface="Inter"/>
                <a:sym typeface="Inter"/>
              </a:rPr>
              <a:t>Desenvolvido com OpenCode + Superpowers + Stitch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5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Repositório: github.com/amandaolits/poc-dotz-loyalty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5"/>
          <p:cNvSpPr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BCC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FFDBCC"/>
                </a:solidFill>
                <a:latin typeface="Inter"/>
                <a:ea typeface="Inter"/>
                <a:cs typeface="Inter"/>
                <a:sym typeface="Inter"/>
              </a:rPr>
              <a:t>Maio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2026-05-14T17:47:17Z</dcterms:created>
  <dc:creator>PptxGenJS</dc:creator>
</cp:coreProperties>
</file>